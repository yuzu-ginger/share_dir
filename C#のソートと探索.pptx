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AD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nina\Documents\result.csv.xlsx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[result.csv.xlsx]time!ピボットテーブル2</c:name>
    <c:fmtId val="18"/>
  </c:pivotSource>
  <c:chart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ln w="28575" cap="rnd">
            <a:solidFill>
              <a:schemeClr val="accent3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ln w="28575" cap="rnd">
            <a:solidFill>
              <a:schemeClr val="accent4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ln w="28575" cap="rnd">
            <a:solidFill>
              <a:schemeClr val="accent5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ln w="28575" cap="rnd">
            <a:solidFill>
              <a:schemeClr val="accent6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ln w="28575" cap="rnd">
            <a:solidFill>
              <a:schemeClr val="accent1">
                <a:lumMod val="60000"/>
              </a:schemeClr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ln w="28575" cap="rnd">
            <a:solidFill>
              <a:schemeClr val="accent3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ln w="28575" cap="rnd">
            <a:solidFill>
              <a:schemeClr val="accent4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ln w="28575" cap="rnd">
            <a:solidFill>
              <a:schemeClr val="accent5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ln w="28575" cap="rnd">
            <a:solidFill>
              <a:schemeClr val="accent6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ln w="28575" cap="rnd">
            <a:solidFill>
              <a:schemeClr val="accent1">
                <a:lumMod val="60000"/>
              </a:schemeClr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ln w="28575" cap="rnd">
            <a:solidFill>
              <a:schemeClr val="accent3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ln w="28575" cap="rnd">
            <a:solidFill>
              <a:schemeClr val="accent4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ln w="28575" cap="rnd">
            <a:solidFill>
              <a:schemeClr val="accent5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ln w="28575" cap="rnd">
            <a:solidFill>
              <a:schemeClr val="accent6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ln w="28575" cap="rnd">
            <a:solidFill>
              <a:schemeClr val="accent1">
                <a:lumMod val="60000"/>
              </a:schemeClr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time!$B$3:$B$4</c:f>
              <c:strCache>
                <c:ptCount val="1"/>
                <c:pt idx="0">
                  <c:v>Array.Sort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time!$A$5:$A$10</c:f>
              <c:strCache>
                <c:ptCount val="6"/>
                <c:pt idx="0">
                  <c:v>10</c:v>
                </c:pt>
                <c:pt idx="1">
                  <c:v>100</c:v>
                </c:pt>
                <c:pt idx="2">
                  <c:v>1000</c:v>
                </c:pt>
                <c:pt idx="3">
                  <c:v>10000</c:v>
                </c:pt>
                <c:pt idx="4">
                  <c:v>100000</c:v>
                </c:pt>
                <c:pt idx="5">
                  <c:v>1000000</c:v>
                </c:pt>
              </c:strCache>
            </c:strRef>
          </c:cat>
          <c:val>
            <c:numRef>
              <c:f>time!$B$5:$B$10</c:f>
              <c:numCache>
                <c:formatCode>General</c:formatCode>
                <c:ptCount val="6"/>
                <c:pt idx="0">
                  <c:v>0.25</c:v>
                </c:pt>
                <c:pt idx="1">
                  <c:v>4</c:v>
                </c:pt>
                <c:pt idx="2">
                  <c:v>219.75</c:v>
                </c:pt>
                <c:pt idx="3">
                  <c:v>2277.75</c:v>
                </c:pt>
                <c:pt idx="4">
                  <c:v>33557.75</c:v>
                </c:pt>
                <c:pt idx="5">
                  <c:v>271542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AE8-4367-909A-8D80DC9ED190}"/>
            </c:ext>
          </c:extLst>
        </c:ser>
        <c:ser>
          <c:idx val="1"/>
          <c:order val="1"/>
          <c:tx>
            <c:strRef>
              <c:f>time!$C$3:$C$4</c:f>
              <c:strCache>
                <c:ptCount val="1"/>
                <c:pt idx="0">
                  <c:v>Heap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time!$A$5:$A$10</c:f>
              <c:strCache>
                <c:ptCount val="6"/>
                <c:pt idx="0">
                  <c:v>10</c:v>
                </c:pt>
                <c:pt idx="1">
                  <c:v>100</c:v>
                </c:pt>
                <c:pt idx="2">
                  <c:v>1000</c:v>
                </c:pt>
                <c:pt idx="3">
                  <c:v>10000</c:v>
                </c:pt>
                <c:pt idx="4">
                  <c:v>100000</c:v>
                </c:pt>
                <c:pt idx="5">
                  <c:v>1000000</c:v>
                </c:pt>
              </c:strCache>
            </c:strRef>
          </c:cat>
          <c:val>
            <c:numRef>
              <c:f>time!$C$5:$C$10</c:f>
              <c:numCache>
                <c:formatCode>General</c:formatCode>
                <c:ptCount val="6"/>
                <c:pt idx="0">
                  <c:v>8.75</c:v>
                </c:pt>
                <c:pt idx="1">
                  <c:v>220.5</c:v>
                </c:pt>
                <c:pt idx="2">
                  <c:v>3354</c:v>
                </c:pt>
                <c:pt idx="3">
                  <c:v>47199.75</c:v>
                </c:pt>
                <c:pt idx="4">
                  <c:v>662636.75</c:v>
                </c:pt>
                <c:pt idx="5">
                  <c:v>6623299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AE8-4367-909A-8D80DC9ED190}"/>
            </c:ext>
          </c:extLst>
        </c:ser>
        <c:ser>
          <c:idx val="2"/>
          <c:order val="2"/>
          <c:tx>
            <c:strRef>
              <c:f>time!$D$3:$D$4</c:f>
              <c:strCache>
                <c:ptCount val="1"/>
                <c:pt idx="0">
                  <c:v>Insertion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time!$A$5:$A$10</c:f>
              <c:strCache>
                <c:ptCount val="6"/>
                <c:pt idx="0">
                  <c:v>10</c:v>
                </c:pt>
                <c:pt idx="1">
                  <c:v>100</c:v>
                </c:pt>
                <c:pt idx="2">
                  <c:v>1000</c:v>
                </c:pt>
                <c:pt idx="3">
                  <c:v>10000</c:v>
                </c:pt>
                <c:pt idx="4">
                  <c:v>100000</c:v>
                </c:pt>
                <c:pt idx="5">
                  <c:v>1000000</c:v>
                </c:pt>
              </c:strCache>
            </c:strRef>
          </c:cat>
          <c:val>
            <c:numRef>
              <c:f>time!$D$5:$D$10</c:f>
              <c:numCache>
                <c:formatCode>General</c:formatCode>
                <c:ptCount val="6"/>
                <c:pt idx="0">
                  <c:v>2</c:v>
                </c:pt>
                <c:pt idx="1">
                  <c:v>176.75</c:v>
                </c:pt>
                <c:pt idx="2">
                  <c:v>14279.75</c:v>
                </c:pt>
                <c:pt idx="3">
                  <c:v>1590661.5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AE8-4367-909A-8D80DC9ED190}"/>
            </c:ext>
          </c:extLst>
        </c:ser>
        <c:ser>
          <c:idx val="3"/>
          <c:order val="3"/>
          <c:tx>
            <c:strRef>
              <c:f>time!$E$3:$E$4</c:f>
              <c:strCache>
                <c:ptCount val="1"/>
                <c:pt idx="0">
                  <c:v>IntroSort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time!$A$5:$A$10</c:f>
              <c:strCache>
                <c:ptCount val="6"/>
                <c:pt idx="0">
                  <c:v>10</c:v>
                </c:pt>
                <c:pt idx="1">
                  <c:v>100</c:v>
                </c:pt>
                <c:pt idx="2">
                  <c:v>1000</c:v>
                </c:pt>
                <c:pt idx="3">
                  <c:v>10000</c:v>
                </c:pt>
                <c:pt idx="4">
                  <c:v>100000</c:v>
                </c:pt>
                <c:pt idx="5">
                  <c:v>1000000</c:v>
                </c:pt>
              </c:strCache>
            </c:strRef>
          </c:cat>
          <c:val>
            <c:numRef>
              <c:f>time!$E$5:$E$10</c:f>
              <c:numCache>
                <c:formatCode>General</c:formatCode>
                <c:ptCount val="6"/>
                <c:pt idx="0">
                  <c:v>2.5</c:v>
                </c:pt>
                <c:pt idx="1">
                  <c:v>54.75</c:v>
                </c:pt>
                <c:pt idx="2">
                  <c:v>1051</c:v>
                </c:pt>
                <c:pt idx="3">
                  <c:v>14211.75</c:v>
                </c:pt>
                <c:pt idx="4">
                  <c:v>208265.75</c:v>
                </c:pt>
                <c:pt idx="5">
                  <c:v>1855313.5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AE8-4367-909A-8D80DC9ED190}"/>
            </c:ext>
          </c:extLst>
        </c:ser>
        <c:ser>
          <c:idx val="4"/>
          <c:order val="4"/>
          <c:tx>
            <c:strRef>
              <c:f>time!$F$3:$F$4</c:f>
              <c:strCache>
                <c:ptCount val="1"/>
                <c:pt idx="0">
                  <c:v>Quick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time!$A$5:$A$10</c:f>
              <c:strCache>
                <c:ptCount val="6"/>
                <c:pt idx="0">
                  <c:v>10</c:v>
                </c:pt>
                <c:pt idx="1">
                  <c:v>100</c:v>
                </c:pt>
                <c:pt idx="2">
                  <c:v>1000</c:v>
                </c:pt>
                <c:pt idx="3">
                  <c:v>10000</c:v>
                </c:pt>
                <c:pt idx="4">
                  <c:v>100000</c:v>
                </c:pt>
                <c:pt idx="5">
                  <c:v>1000000</c:v>
                </c:pt>
              </c:strCache>
            </c:strRef>
          </c:cat>
          <c:val>
            <c:numRef>
              <c:f>time!$F$5:$F$10</c:f>
              <c:numCache>
                <c:formatCode>General</c:formatCode>
                <c:ptCount val="6"/>
                <c:pt idx="0">
                  <c:v>6.25</c:v>
                </c:pt>
                <c:pt idx="1">
                  <c:v>101</c:v>
                </c:pt>
                <c:pt idx="2">
                  <c:v>1432.25</c:v>
                </c:pt>
                <c:pt idx="3">
                  <c:v>19515</c:v>
                </c:pt>
                <c:pt idx="4">
                  <c:v>263283.25</c:v>
                </c:pt>
                <c:pt idx="5">
                  <c:v>2469049.5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AE8-4367-909A-8D80DC9ED190}"/>
            </c:ext>
          </c:extLst>
        </c:ser>
        <c:ser>
          <c:idx val="5"/>
          <c:order val="5"/>
          <c:tx>
            <c:strRef>
              <c:f>time!$G$3:$G$4</c:f>
              <c:strCache>
                <c:ptCount val="1"/>
                <c:pt idx="0">
                  <c:v>Quick + Heap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time!$A$5:$A$10</c:f>
              <c:strCache>
                <c:ptCount val="6"/>
                <c:pt idx="0">
                  <c:v>10</c:v>
                </c:pt>
                <c:pt idx="1">
                  <c:v>100</c:v>
                </c:pt>
                <c:pt idx="2">
                  <c:v>1000</c:v>
                </c:pt>
                <c:pt idx="3">
                  <c:v>10000</c:v>
                </c:pt>
                <c:pt idx="4">
                  <c:v>100000</c:v>
                </c:pt>
                <c:pt idx="5">
                  <c:v>1000000</c:v>
                </c:pt>
              </c:strCache>
            </c:strRef>
          </c:cat>
          <c:val>
            <c:numRef>
              <c:f>time!$G$5:$G$10</c:f>
              <c:numCache>
                <c:formatCode>General</c:formatCode>
                <c:ptCount val="6"/>
                <c:pt idx="0">
                  <c:v>5.75</c:v>
                </c:pt>
                <c:pt idx="1">
                  <c:v>111.25</c:v>
                </c:pt>
                <c:pt idx="2">
                  <c:v>1302.75</c:v>
                </c:pt>
                <c:pt idx="3">
                  <c:v>18479</c:v>
                </c:pt>
                <c:pt idx="4">
                  <c:v>257709</c:v>
                </c:pt>
                <c:pt idx="5">
                  <c:v>2193413.5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AE8-4367-909A-8D80DC9ED190}"/>
            </c:ext>
          </c:extLst>
        </c:ser>
        <c:ser>
          <c:idx val="6"/>
          <c:order val="6"/>
          <c:tx>
            <c:strRef>
              <c:f>time!$H$3:$H$4</c:f>
              <c:strCache>
                <c:ptCount val="1"/>
                <c:pt idx="0">
                  <c:v>Quick + Insert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time!$A$5:$A$10</c:f>
              <c:strCache>
                <c:ptCount val="6"/>
                <c:pt idx="0">
                  <c:v>10</c:v>
                </c:pt>
                <c:pt idx="1">
                  <c:v>100</c:v>
                </c:pt>
                <c:pt idx="2">
                  <c:v>1000</c:v>
                </c:pt>
                <c:pt idx="3">
                  <c:v>10000</c:v>
                </c:pt>
                <c:pt idx="4">
                  <c:v>100000</c:v>
                </c:pt>
                <c:pt idx="5">
                  <c:v>1000000</c:v>
                </c:pt>
              </c:strCache>
            </c:strRef>
          </c:cat>
          <c:val>
            <c:numRef>
              <c:f>time!$H$5:$H$10</c:f>
              <c:numCache>
                <c:formatCode>General</c:formatCode>
                <c:ptCount val="6"/>
                <c:pt idx="0">
                  <c:v>2</c:v>
                </c:pt>
                <c:pt idx="1">
                  <c:v>71.25</c:v>
                </c:pt>
                <c:pt idx="2">
                  <c:v>1001</c:v>
                </c:pt>
                <c:pt idx="3">
                  <c:v>14270.75</c:v>
                </c:pt>
                <c:pt idx="4">
                  <c:v>216931</c:v>
                </c:pt>
                <c:pt idx="5">
                  <c:v>1929718.75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AE8-4367-909A-8D80DC9ED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70061216"/>
        <c:axId val="370061696"/>
      </c:lineChart>
      <c:catAx>
        <c:axId val="370061216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ja-JP"/>
                  <a:t>配列の要素数 </a:t>
                </a:r>
                <a:r>
                  <a:rPr lang="en-US"/>
                  <a:t>(N)</a:t>
                </a:r>
                <a:endParaRPr lang="ja-JP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ja-JP"/>
          </a:p>
        </c:txPr>
        <c:crossAx val="370061696"/>
        <c:crosses val="autoZero"/>
        <c:auto val="1"/>
        <c:lblAlgn val="ctr"/>
        <c:lblOffset val="100"/>
        <c:noMultiLvlLbl val="0"/>
      </c:catAx>
      <c:valAx>
        <c:axId val="370061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ja-JP"/>
                  <a:t>時間</a:t>
                </a:r>
                <a:r>
                  <a:rPr lang="en-US"/>
                  <a:t> (ticks)</a:t>
                </a:r>
                <a:endParaRPr lang="ja-JP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ja-JP"/>
          </a:p>
        </c:txPr>
        <c:crossAx val="37006121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3978530783758876"/>
          <c:y val="2.6673520905428228E-2"/>
          <c:w val="0.15340309764858751"/>
          <c:h val="0.35217312804052359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ja-JP"/>
        </a:p>
      </c:txPr>
    </c:legend>
    <c:plotVisOnly val="1"/>
    <c:dispBlanksAs val="gap"/>
    <c:showDLblsOverMax val="0"/>
    <c:extLst/>
  </c:chart>
  <c:txPr>
    <a:bodyPr/>
    <a:lstStyle/>
    <a:p>
      <a:pPr>
        <a:defRPr sz="1600">
          <a:latin typeface="+mn-ea"/>
          <a:ea typeface="+mn-ea"/>
        </a:defRPr>
      </a:pPr>
      <a:endParaRPr lang="ja-JP"/>
    </a:p>
  </c:txPr>
  <c:externalData r:id="rId2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F3C9A4-F951-7414-7619-3AD23A0F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D4A254-1B9B-4E77-A767-448C68B0FD5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D7E9FE16-4F4A-EC3E-BCA5-44E8A3CA6D59}"/>
              </a:ext>
            </a:extLst>
          </p:cNvPr>
          <p:cNvGrpSpPr/>
          <p:nvPr/>
        </p:nvGrpSpPr>
        <p:grpSpPr>
          <a:xfrm>
            <a:off x="-1566325" y="-1340359"/>
            <a:ext cx="15148335" cy="10794661"/>
            <a:chOff x="-2349487" y="-2010539"/>
            <a:chExt cx="22722502" cy="16191991"/>
          </a:xfrm>
        </p:grpSpPr>
        <p:sp>
          <p:nvSpPr>
            <p:cNvPr id="8" name="Freeform 2">
              <a:extLst>
                <a:ext uri="{FF2B5EF4-FFF2-40B4-BE49-F238E27FC236}">
                  <a16:creationId xmlns:a16="http://schemas.microsoft.com/office/drawing/2014/main" id="{6C23338B-C753-5AB4-C09E-7AD319F86EB8}"/>
                </a:ext>
              </a:extLst>
            </p:cNvPr>
            <p:cNvSpPr>
              <a:spLocks/>
            </p:cNvSpPr>
            <p:nvPr/>
          </p:nvSpPr>
          <p:spPr>
            <a:xfrm rot="6058032">
              <a:off x="-2462211" y="-1897815"/>
              <a:ext cx="7293909" cy="7068461"/>
            </a:xfrm>
            <a:custGeom>
              <a:avLst/>
              <a:gdLst/>
              <a:ahLst/>
              <a:cxnLst/>
              <a:rect l="l" t="t" r="r" b="b"/>
              <a:pathLst>
                <a:path w="7293909" h="7068461">
                  <a:moveTo>
                    <a:pt x="0" y="0"/>
                  </a:moveTo>
                  <a:lnTo>
                    <a:pt x="7293909" y="0"/>
                  </a:lnTo>
                  <a:lnTo>
                    <a:pt x="7293909" y="7068461"/>
                  </a:lnTo>
                  <a:lnTo>
                    <a:pt x="0" y="706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17065AC9-3A19-425B-B384-05DB532A85CF}"/>
                </a:ext>
              </a:extLst>
            </p:cNvPr>
            <p:cNvSpPr>
              <a:spLocks/>
            </p:cNvSpPr>
            <p:nvPr/>
          </p:nvSpPr>
          <p:spPr>
            <a:xfrm rot="4922846">
              <a:off x="12511643" y="6320080"/>
              <a:ext cx="7984773" cy="7737971"/>
            </a:xfrm>
            <a:custGeom>
              <a:avLst/>
              <a:gdLst/>
              <a:ahLst/>
              <a:cxnLst/>
              <a:rect l="l" t="t" r="r" b="b"/>
              <a:pathLst>
                <a:path w="7984773" h="7737971">
                  <a:moveTo>
                    <a:pt x="0" y="0"/>
                  </a:moveTo>
                  <a:lnTo>
                    <a:pt x="7984773" y="0"/>
                  </a:lnTo>
                  <a:lnTo>
                    <a:pt x="7984773" y="7737971"/>
                  </a:lnTo>
                  <a:lnTo>
                    <a:pt x="0" y="77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E053FE08-C97F-ACE2-07C9-5426BB29E215}"/>
                </a:ext>
              </a:extLst>
            </p:cNvPr>
            <p:cNvSpPr>
              <a:spLocks/>
            </p:cNvSpPr>
            <p:nvPr/>
          </p:nvSpPr>
          <p:spPr>
            <a:xfrm>
              <a:off x="401728" y="3126731"/>
              <a:ext cx="2673242" cy="2673242"/>
            </a:xfrm>
            <a:custGeom>
              <a:avLst/>
              <a:gdLst/>
              <a:ahLst/>
              <a:cxnLst/>
              <a:rect l="l" t="t" r="r" b="b"/>
              <a:pathLst>
                <a:path w="2673242" h="2673242">
                  <a:moveTo>
                    <a:pt x="0" y="0"/>
                  </a:moveTo>
                  <a:lnTo>
                    <a:pt x="2673242" y="0"/>
                  </a:lnTo>
                  <a:lnTo>
                    <a:pt x="2673242" y="2673242"/>
                  </a:lnTo>
                  <a:lnTo>
                    <a:pt x="0" y="2673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FFB485-F9DB-BD3F-897E-36F6C07B92B7}"/>
                </a:ext>
              </a:extLst>
            </p:cNvPr>
            <p:cNvSpPr>
              <a:spLocks/>
            </p:cNvSpPr>
            <p:nvPr/>
          </p:nvSpPr>
          <p:spPr>
            <a:xfrm>
              <a:off x="15322871" y="5496745"/>
              <a:ext cx="2673242" cy="2673242"/>
            </a:xfrm>
            <a:custGeom>
              <a:avLst/>
              <a:gdLst/>
              <a:ahLst/>
              <a:cxnLst/>
              <a:rect l="l" t="t" r="r" b="b"/>
              <a:pathLst>
                <a:path w="2673242" h="2673242">
                  <a:moveTo>
                    <a:pt x="0" y="0"/>
                  </a:moveTo>
                  <a:lnTo>
                    <a:pt x="2673242" y="0"/>
                  </a:lnTo>
                  <a:lnTo>
                    <a:pt x="2673242" y="2673242"/>
                  </a:lnTo>
                  <a:lnTo>
                    <a:pt x="0" y="2673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sp>
        <p:nvSpPr>
          <p:cNvPr id="12" name="タイトル プレースホルダー 25">
            <a:extLst>
              <a:ext uri="{FF2B5EF4-FFF2-40B4-BE49-F238E27FC236}">
                <a16:creationId xmlns:a16="http://schemas.microsoft.com/office/drawing/2014/main" id="{26E13305-1911-1D48-067E-64133EA967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17267" y="1622147"/>
            <a:ext cx="6312000" cy="70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280"/>
            </a:lvl1pPr>
          </a:lstStyle>
          <a:p>
            <a:r>
              <a:rPr kumimoji="1" lang="ja-JP" altLang="en-US" dirty="0"/>
              <a:t>タイトル</a:t>
            </a:r>
          </a:p>
        </p:txBody>
      </p:sp>
      <p:sp>
        <p:nvSpPr>
          <p:cNvPr id="13" name="テキスト プレースホルダー 28">
            <a:extLst>
              <a:ext uri="{FF2B5EF4-FFF2-40B4-BE49-F238E27FC236}">
                <a16:creationId xmlns:a16="http://schemas.microsoft.com/office/drawing/2014/main" id="{097881CC-DF21-E9F9-02FC-8C0A849B0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5911" y="4279200"/>
            <a:ext cx="5604000" cy="30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algn="ctr">
              <a:lnSpc>
                <a:spcPts val="2613"/>
              </a:lnSpc>
            </a:pPr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67694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C26761-9D7A-A261-F507-9B8BEE18E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275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6" name="スライド番号プレースホルダー 3">
            <a:extLst>
              <a:ext uri="{FF2B5EF4-FFF2-40B4-BE49-F238E27FC236}">
                <a16:creationId xmlns:a16="http://schemas.microsoft.com/office/drawing/2014/main" id="{6E938E4E-1039-6342-4A10-DAB0C3916C71}"/>
              </a:ext>
            </a:extLst>
          </p:cNvPr>
          <p:cNvSpPr txBox="1">
            <a:spLocks/>
          </p:cNvSpPr>
          <p:nvPr/>
        </p:nvSpPr>
        <p:spPr>
          <a:xfrm>
            <a:off x="11527972" y="6356350"/>
            <a:ext cx="4953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D4A254-1B9B-4E77-A767-448C68B0FD5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0994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F392E83-EE1A-6D51-4C5E-6DA74B8F0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7972" y="6356350"/>
            <a:ext cx="495300" cy="365125"/>
          </a:xfrm>
          <a:prstGeom prst="rect">
            <a:avLst/>
          </a:prstGeom>
        </p:spPr>
        <p:txBody>
          <a:bodyPr/>
          <a:lstStyle/>
          <a:p>
            <a:fld id="{68D4A254-1B9B-4E77-A767-448C68B0FD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019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sv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A06D8996-F92A-74F9-3324-4F08FE19C90B}"/>
              </a:ext>
            </a:extLst>
          </p:cNvPr>
          <p:cNvGrpSpPr/>
          <p:nvPr/>
        </p:nvGrpSpPr>
        <p:grpSpPr>
          <a:xfrm>
            <a:off x="-1566325" y="-1340359"/>
            <a:ext cx="15148335" cy="10794661"/>
            <a:chOff x="-2349487" y="-2010539"/>
            <a:chExt cx="22722502" cy="16191991"/>
          </a:xfrm>
        </p:grpSpPr>
        <p:sp>
          <p:nvSpPr>
            <p:cNvPr id="16" name="Freeform 2">
              <a:extLst>
                <a:ext uri="{FF2B5EF4-FFF2-40B4-BE49-F238E27FC236}">
                  <a16:creationId xmlns:a16="http://schemas.microsoft.com/office/drawing/2014/main" id="{C191B0A1-69AE-3EA3-B962-D8D50277BE22}"/>
                </a:ext>
              </a:extLst>
            </p:cNvPr>
            <p:cNvSpPr>
              <a:spLocks/>
            </p:cNvSpPr>
            <p:nvPr/>
          </p:nvSpPr>
          <p:spPr>
            <a:xfrm rot="6058032">
              <a:off x="-2462211" y="-1897815"/>
              <a:ext cx="7293909" cy="7068461"/>
            </a:xfrm>
            <a:custGeom>
              <a:avLst/>
              <a:gdLst/>
              <a:ahLst/>
              <a:cxnLst/>
              <a:rect l="l" t="t" r="r" b="b"/>
              <a:pathLst>
                <a:path w="7293909" h="7068461">
                  <a:moveTo>
                    <a:pt x="0" y="0"/>
                  </a:moveTo>
                  <a:lnTo>
                    <a:pt x="7293909" y="0"/>
                  </a:lnTo>
                  <a:lnTo>
                    <a:pt x="7293909" y="7068461"/>
                  </a:lnTo>
                  <a:lnTo>
                    <a:pt x="0" y="706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CEF18A8F-B614-CC36-FF63-79265BE93197}"/>
                </a:ext>
              </a:extLst>
            </p:cNvPr>
            <p:cNvSpPr>
              <a:spLocks/>
            </p:cNvSpPr>
            <p:nvPr/>
          </p:nvSpPr>
          <p:spPr>
            <a:xfrm rot="4922846">
              <a:off x="12511643" y="6320080"/>
              <a:ext cx="7984773" cy="7737971"/>
            </a:xfrm>
            <a:custGeom>
              <a:avLst/>
              <a:gdLst/>
              <a:ahLst/>
              <a:cxnLst/>
              <a:rect l="l" t="t" r="r" b="b"/>
              <a:pathLst>
                <a:path w="7984773" h="7737971">
                  <a:moveTo>
                    <a:pt x="0" y="0"/>
                  </a:moveTo>
                  <a:lnTo>
                    <a:pt x="7984773" y="0"/>
                  </a:lnTo>
                  <a:lnTo>
                    <a:pt x="7984773" y="7737971"/>
                  </a:lnTo>
                  <a:lnTo>
                    <a:pt x="0" y="77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8DE2329C-C586-67FD-89AE-5383E2A4A4A0}"/>
                </a:ext>
              </a:extLst>
            </p:cNvPr>
            <p:cNvSpPr>
              <a:spLocks/>
            </p:cNvSpPr>
            <p:nvPr/>
          </p:nvSpPr>
          <p:spPr>
            <a:xfrm>
              <a:off x="401728" y="3126731"/>
              <a:ext cx="2673242" cy="2673242"/>
            </a:xfrm>
            <a:custGeom>
              <a:avLst/>
              <a:gdLst/>
              <a:ahLst/>
              <a:cxnLst/>
              <a:rect l="l" t="t" r="r" b="b"/>
              <a:pathLst>
                <a:path w="2673242" h="2673242">
                  <a:moveTo>
                    <a:pt x="0" y="0"/>
                  </a:moveTo>
                  <a:lnTo>
                    <a:pt x="2673242" y="0"/>
                  </a:lnTo>
                  <a:lnTo>
                    <a:pt x="2673242" y="2673242"/>
                  </a:lnTo>
                  <a:lnTo>
                    <a:pt x="0" y="2673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EDAC8010-4C0C-2C30-3F28-F61603730996}"/>
                </a:ext>
              </a:extLst>
            </p:cNvPr>
            <p:cNvSpPr>
              <a:spLocks/>
            </p:cNvSpPr>
            <p:nvPr/>
          </p:nvSpPr>
          <p:spPr>
            <a:xfrm>
              <a:off x="15322871" y="5496745"/>
              <a:ext cx="2673242" cy="2673242"/>
            </a:xfrm>
            <a:custGeom>
              <a:avLst/>
              <a:gdLst/>
              <a:ahLst/>
              <a:cxnLst/>
              <a:rect l="l" t="t" r="r" b="b"/>
              <a:pathLst>
                <a:path w="2673242" h="2673242">
                  <a:moveTo>
                    <a:pt x="0" y="0"/>
                  </a:moveTo>
                  <a:lnTo>
                    <a:pt x="2673242" y="0"/>
                  </a:lnTo>
                  <a:lnTo>
                    <a:pt x="2673242" y="2673242"/>
                  </a:lnTo>
                  <a:lnTo>
                    <a:pt x="0" y="2673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sp>
        <p:nvSpPr>
          <p:cNvPr id="26" name="タイトル プレースホルダー 25">
            <a:extLst>
              <a:ext uri="{FF2B5EF4-FFF2-40B4-BE49-F238E27FC236}">
                <a16:creationId xmlns:a16="http://schemas.microsoft.com/office/drawing/2014/main" id="{48CEE7B1-2829-FD69-009F-16F82BAE4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267" y="1622147"/>
            <a:ext cx="6312000" cy="70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タイトル</a:t>
            </a:r>
          </a:p>
        </p:txBody>
      </p:sp>
      <p:sp>
        <p:nvSpPr>
          <p:cNvPr id="29" name="テキスト プレースホルダー 28">
            <a:extLst>
              <a:ext uri="{FF2B5EF4-FFF2-40B4-BE49-F238E27FC236}">
                <a16:creationId xmlns:a16="http://schemas.microsoft.com/office/drawing/2014/main" id="{8ADA8F6B-3E06-71A6-5B4A-916B45F7D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55911" y="4279200"/>
            <a:ext cx="5604000" cy="30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algn="ctr">
              <a:lnSpc>
                <a:spcPts val="2613"/>
              </a:lnSpc>
            </a:pPr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018105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6" r:id="rId2"/>
    <p:sldLayoutId id="2147483667" r:id="rId3"/>
  </p:sldLayoutIdLst>
  <p:txStyles>
    <p:titleStyle>
      <a:lvl1pPr algn="ctr" defTabSz="609630" rtl="0" eaLnBrk="1" latinLnBrk="0" hangingPunct="1">
        <a:lnSpc>
          <a:spcPct val="90000"/>
        </a:lnSpc>
        <a:spcBef>
          <a:spcPct val="0"/>
        </a:spcBef>
        <a:buNone/>
        <a:defRPr kumimoji="1" lang="ja-JP" altLang="en-US" sz="3200" b="1" kern="1200" spc="337" dirty="0" smtClean="0">
          <a:solidFill>
            <a:srgbClr val="5D5F67"/>
          </a:solidFill>
          <a:latin typeface="Noto Sans JP Bold"/>
          <a:ea typeface="Noto Sans JP Bold"/>
          <a:cs typeface="+mj-cs"/>
        </a:defRPr>
      </a:lvl1pPr>
    </p:titleStyle>
    <p:bodyStyle>
      <a:lvl1pPr marL="0" indent="0" algn="ctr" defTabSz="609630" rtl="0" eaLnBrk="1" latinLnBrk="0" hangingPunct="1">
        <a:lnSpc>
          <a:spcPct val="90000"/>
        </a:lnSpc>
        <a:spcBef>
          <a:spcPts val="667"/>
        </a:spcBef>
        <a:buFontTx/>
        <a:buNone/>
        <a:defRPr kumimoji="1" lang="ja-JP" altLang="en-US" sz="1866" b="1" kern="1200" spc="147" smtClean="0">
          <a:solidFill>
            <a:srgbClr val="464A5B"/>
          </a:solidFill>
          <a:latin typeface="Noto Sans JP Bold"/>
          <a:ea typeface="Noto Sans JP Bold"/>
          <a:cs typeface="+mn-cs"/>
        </a:defRPr>
      </a:lvl1pPr>
      <a:lvl2pPr marL="152408" indent="0" algn="ctr" defTabSz="609630" rtl="0" eaLnBrk="1" latinLnBrk="0" hangingPunct="1">
        <a:lnSpc>
          <a:spcPct val="90000"/>
        </a:lnSpc>
        <a:spcBef>
          <a:spcPts val="333"/>
        </a:spcBef>
        <a:buFontTx/>
        <a:buNone/>
        <a:defRPr kumimoji="1" lang="ja-JP" altLang="en-US" sz="12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457223" indent="0" algn="ctr" defTabSz="609630" rtl="0" eaLnBrk="1" latinLnBrk="0" hangingPunct="1">
        <a:lnSpc>
          <a:spcPct val="90000"/>
        </a:lnSpc>
        <a:spcBef>
          <a:spcPts val="333"/>
        </a:spcBef>
        <a:buFontTx/>
        <a:buNone/>
        <a:defRPr kumimoji="1" lang="ja-JP" altLang="en-US" sz="12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762038" indent="0" algn="ctr" defTabSz="609630" rtl="0" eaLnBrk="1" latinLnBrk="0" hangingPunct="1">
        <a:lnSpc>
          <a:spcPct val="90000"/>
        </a:lnSpc>
        <a:spcBef>
          <a:spcPts val="333"/>
        </a:spcBef>
        <a:buFontTx/>
        <a:buNone/>
        <a:defRPr kumimoji="1" lang="ja-JP" altLang="en-US" sz="12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066853" indent="0" algn="ctr" defTabSz="609630" rtl="0" eaLnBrk="1" latinLnBrk="0" hangingPunct="1">
        <a:lnSpc>
          <a:spcPct val="90000"/>
        </a:lnSpc>
        <a:spcBef>
          <a:spcPts val="333"/>
        </a:spcBef>
        <a:buFontTx/>
        <a:buNone/>
        <a:defRPr kumimoji="1" lang="ja-JP" altLang="en-US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13B9477B-AA73-450A-5A0F-D7A5C0B09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236910"/>
            <a:ext cx="10515600" cy="622753"/>
          </a:xfrm>
        </p:spPr>
        <p:txBody>
          <a:bodyPr/>
          <a:lstStyle/>
          <a:p>
            <a:r>
              <a:rPr lang="ja-JP" altLang="en-US" dirty="0"/>
              <a:t>➡ 内部では何ソートが使われているのか？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F85113F-EFDA-185C-A7D1-D625AEAF57BD}"/>
              </a:ext>
            </a:extLst>
          </p:cNvPr>
          <p:cNvSpPr txBox="1"/>
          <p:nvPr/>
        </p:nvSpPr>
        <p:spPr>
          <a:xfrm>
            <a:off x="1705213" y="963827"/>
            <a:ext cx="8781571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C# </a:t>
            </a:r>
            <a:r>
              <a:rPr kumimoji="1" lang="ja-JP" altLang="en-US" sz="2000" dirty="0"/>
              <a:t>で使える </a:t>
            </a:r>
            <a:r>
              <a:rPr kumimoji="1" lang="en-US" altLang="ja-JP" sz="2000" dirty="0"/>
              <a:t>.NET </a:t>
            </a:r>
            <a:r>
              <a:rPr kumimoji="1" lang="ja-JP" altLang="en-US" sz="2000" dirty="0"/>
              <a:t>の標準ライブラリには</a:t>
            </a:r>
            <a:endParaRPr kumimoji="1" lang="en-US" altLang="ja-JP" sz="2000" dirty="0"/>
          </a:p>
          <a:p>
            <a:r>
              <a:rPr kumimoji="1" lang="ja-JP" altLang="en-US" sz="3200" dirty="0">
                <a:solidFill>
                  <a:srgbClr val="E8AD06"/>
                </a:solidFill>
              </a:rPr>
              <a:t>配列やリストを並べ替えるメソッド</a:t>
            </a:r>
            <a:r>
              <a:rPr kumimoji="1" lang="ja-JP" altLang="en-US" sz="2000" dirty="0"/>
              <a:t>が用意されている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07A4107-099F-FF90-DD31-553974F2ED02}"/>
              </a:ext>
            </a:extLst>
          </p:cNvPr>
          <p:cNvSpPr txBox="1"/>
          <p:nvPr/>
        </p:nvSpPr>
        <p:spPr>
          <a:xfrm>
            <a:off x="2752032" y="2304906"/>
            <a:ext cx="2710999" cy="13090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ja-JP" sz="2800" dirty="0" err="1"/>
              <a:t>Array.Sort</a:t>
            </a:r>
            <a:endParaRPr kumimoji="1" lang="en-US" altLang="ja-JP" sz="2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ja-JP" sz="2800" dirty="0"/>
              <a:t>List&lt; T &gt;.Sort</a:t>
            </a:r>
            <a:endParaRPr kumimoji="1" lang="ja-JP" altLang="en-US" sz="28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107852-CE19-273E-4641-5B0BDF5C2445}"/>
              </a:ext>
            </a:extLst>
          </p:cNvPr>
          <p:cNvSpPr txBox="1"/>
          <p:nvPr/>
        </p:nvSpPr>
        <p:spPr>
          <a:xfrm>
            <a:off x="3155092" y="558624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挿入ソート？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B902711-8532-737F-E602-27F1F08ED426}"/>
              </a:ext>
            </a:extLst>
          </p:cNvPr>
          <p:cNvSpPr txBox="1"/>
          <p:nvPr/>
        </p:nvSpPr>
        <p:spPr>
          <a:xfrm>
            <a:off x="4180088" y="5140719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クイックソート？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4F6EF77-6638-704F-3008-D2172EA62CDB}"/>
              </a:ext>
            </a:extLst>
          </p:cNvPr>
          <p:cNvSpPr txBox="1"/>
          <p:nvPr/>
        </p:nvSpPr>
        <p:spPr>
          <a:xfrm>
            <a:off x="6627340" y="528812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バブルソート？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5DD152A-C37A-FD6F-6A95-BC32D1D1AF50}"/>
              </a:ext>
            </a:extLst>
          </p:cNvPr>
          <p:cNvSpPr txBox="1"/>
          <p:nvPr/>
        </p:nvSpPr>
        <p:spPr>
          <a:xfrm>
            <a:off x="5195751" y="580984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ヒープソート？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E279405-B516-3162-9AD2-7AC6CF2C7E6E}"/>
              </a:ext>
            </a:extLst>
          </p:cNvPr>
          <p:cNvSpPr txBox="1"/>
          <p:nvPr/>
        </p:nvSpPr>
        <p:spPr>
          <a:xfrm>
            <a:off x="8537642" y="496542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選択ソート？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621467C-8C86-6F92-BF01-4DEC2A160B81}"/>
              </a:ext>
            </a:extLst>
          </p:cNvPr>
          <p:cNvSpPr txBox="1"/>
          <p:nvPr/>
        </p:nvSpPr>
        <p:spPr>
          <a:xfrm>
            <a:off x="1412790" y="499415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マージルソート？</a:t>
            </a:r>
          </a:p>
        </p:txBody>
      </p:sp>
    </p:spTree>
    <p:extLst>
      <p:ext uri="{BB962C8B-B14F-4D97-AF65-F5344CB8AC3E}">
        <p14:creationId xmlns:p14="http://schemas.microsoft.com/office/powerpoint/2010/main" val="3313683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811C1-0CB2-F108-7655-7A8E4FF46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86027B-CB8C-7D9C-79B3-A84C60E5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C#</a:t>
            </a:r>
            <a:r>
              <a:rPr kumimoji="1" lang="ja-JP" altLang="en-US" dirty="0"/>
              <a:t>のソートは</a:t>
            </a:r>
            <a:r>
              <a:rPr kumimoji="1" lang="en-US" altLang="ja-JP" dirty="0"/>
              <a:t>1</a:t>
            </a:r>
            <a:r>
              <a:rPr lang="ja-JP" altLang="en-US" dirty="0"/>
              <a:t>種類</a:t>
            </a:r>
            <a:r>
              <a:rPr kumimoji="1" lang="ja-JP" altLang="en-US" dirty="0"/>
              <a:t>のアルゴリズムではない！</a:t>
            </a:r>
          </a:p>
        </p:txBody>
      </p: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95888DAA-8841-7A14-E286-E0F55ED99A3C}"/>
              </a:ext>
            </a:extLst>
          </p:cNvPr>
          <p:cNvGrpSpPr/>
          <p:nvPr/>
        </p:nvGrpSpPr>
        <p:grpSpPr>
          <a:xfrm>
            <a:off x="1405093" y="1081823"/>
            <a:ext cx="9381813" cy="4036328"/>
            <a:chOff x="1437315" y="1334742"/>
            <a:chExt cx="9381813" cy="4036328"/>
          </a:xfrm>
        </p:grpSpPr>
        <p:sp>
          <p:nvSpPr>
            <p:cNvPr id="3" name="四角形: 角を丸くする 2">
              <a:extLst>
                <a:ext uri="{FF2B5EF4-FFF2-40B4-BE49-F238E27FC236}">
                  <a16:creationId xmlns:a16="http://schemas.microsoft.com/office/drawing/2014/main" id="{183A02B5-B948-6DD1-80D1-62A0C8D0ED4C}"/>
                </a:ext>
              </a:extLst>
            </p:cNvPr>
            <p:cNvSpPr/>
            <p:nvPr/>
          </p:nvSpPr>
          <p:spPr>
            <a:xfrm>
              <a:off x="1437315" y="1334742"/>
              <a:ext cx="2734962" cy="428368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今処理している配列</a:t>
              </a:r>
            </a:p>
          </p:txBody>
        </p:sp>
        <p:sp>
          <p:nvSpPr>
            <p:cNvPr id="30" name="フローチャート: 判断 29">
              <a:extLst>
                <a:ext uri="{FF2B5EF4-FFF2-40B4-BE49-F238E27FC236}">
                  <a16:creationId xmlns:a16="http://schemas.microsoft.com/office/drawing/2014/main" id="{5C171284-33B3-524F-8183-FDA38B5C4AF6}"/>
                </a:ext>
              </a:extLst>
            </p:cNvPr>
            <p:cNvSpPr/>
            <p:nvPr/>
          </p:nvSpPr>
          <p:spPr>
            <a:xfrm>
              <a:off x="3765482" y="1867718"/>
              <a:ext cx="2988000" cy="792000"/>
            </a:xfrm>
            <a:prstGeom prst="flowChartDecision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サイズ ≦ </a:t>
              </a:r>
              <a:r>
                <a:rPr kumimoji="1" lang="en-US" altLang="ja-JP" dirty="0">
                  <a:solidFill>
                    <a:schemeClr val="tx1"/>
                  </a:solidFill>
                </a:rPr>
                <a:t>16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32" name="グループ化 31">
              <a:extLst>
                <a:ext uri="{FF2B5EF4-FFF2-40B4-BE49-F238E27FC236}">
                  <a16:creationId xmlns:a16="http://schemas.microsoft.com/office/drawing/2014/main" id="{08BE241F-81F5-6F30-EE88-5284B90A118D}"/>
                </a:ext>
              </a:extLst>
            </p:cNvPr>
            <p:cNvGrpSpPr/>
            <p:nvPr/>
          </p:nvGrpSpPr>
          <p:grpSpPr>
            <a:xfrm>
              <a:off x="3115128" y="2642949"/>
              <a:ext cx="4288584" cy="638606"/>
              <a:chOff x="4778559" y="3108120"/>
              <a:chExt cx="4288584" cy="638606"/>
            </a:xfrm>
          </p:grpSpPr>
          <p:cxnSp>
            <p:nvCxnSpPr>
              <p:cNvPr id="24" name="直線コネクタ 17">
                <a:extLst>
                  <a:ext uri="{FF2B5EF4-FFF2-40B4-BE49-F238E27FC236}">
                    <a16:creationId xmlns:a16="http://schemas.microsoft.com/office/drawing/2014/main" id="{06E1433E-EF8B-D322-05FE-1385CBC676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22851" y="3111273"/>
                <a:ext cx="2144292" cy="304712"/>
              </a:xfrm>
              <a:prstGeom prst="bentConnector2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線コネクタ 25">
                <a:extLst>
                  <a:ext uri="{FF2B5EF4-FFF2-40B4-BE49-F238E27FC236}">
                    <a16:creationId xmlns:a16="http://schemas.microsoft.com/office/drawing/2014/main" id="{5E95022A-1B19-BFB1-3895-931008BC56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8559" y="3415985"/>
                <a:ext cx="0" cy="3307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76AE31A1-7471-4FAD-B1A3-18A9A3ED06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49001" y="3415985"/>
                <a:ext cx="0" cy="3307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コネクタ 17">
                <a:extLst>
                  <a:ext uri="{FF2B5EF4-FFF2-40B4-BE49-F238E27FC236}">
                    <a16:creationId xmlns:a16="http://schemas.microsoft.com/office/drawing/2014/main" id="{8FDA0579-EB62-0E6D-6478-3F9684DFCC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78559" y="3108120"/>
                <a:ext cx="2144292" cy="304712"/>
              </a:xfrm>
              <a:prstGeom prst="bentConnector2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7E5E1921-0F93-89B2-F532-40BEC5C687DF}"/>
                </a:ext>
              </a:extLst>
            </p:cNvPr>
            <p:cNvSpPr txBox="1"/>
            <p:nvPr/>
          </p:nvSpPr>
          <p:spPr>
            <a:xfrm>
              <a:off x="2879213" y="2788906"/>
              <a:ext cx="50811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Yes</a:t>
              </a:r>
              <a:endParaRPr kumimoji="1" lang="ja-JP" altLang="en-US" sz="1400" dirty="0"/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750592E5-A0AA-D459-9A77-6AC40FE70945}"/>
                </a:ext>
              </a:extLst>
            </p:cNvPr>
            <p:cNvSpPr txBox="1"/>
            <p:nvPr/>
          </p:nvSpPr>
          <p:spPr>
            <a:xfrm>
              <a:off x="7159383" y="2788906"/>
              <a:ext cx="50811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No</a:t>
              </a:r>
              <a:endParaRPr kumimoji="1" lang="ja-JP" altLang="en-US" sz="1400" dirty="0"/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3235D1B7-9230-1782-69FF-A29DAE6D3C19}"/>
                </a:ext>
              </a:extLst>
            </p:cNvPr>
            <p:cNvSpPr txBox="1"/>
            <p:nvPr/>
          </p:nvSpPr>
          <p:spPr>
            <a:xfrm>
              <a:off x="2255305" y="3307802"/>
              <a:ext cx="17196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 b="1" dirty="0">
                  <a:latin typeface="+mj-ea"/>
                  <a:ea typeface="+mj-ea"/>
                </a:rPr>
                <a:t>挿入ソート</a:t>
              </a:r>
            </a:p>
          </p:txBody>
        </p:sp>
        <p:sp>
          <p:nvSpPr>
            <p:cNvPr id="36" name="フローチャート: 判断 35">
              <a:extLst>
                <a:ext uri="{FF2B5EF4-FFF2-40B4-BE49-F238E27FC236}">
                  <a16:creationId xmlns:a16="http://schemas.microsoft.com/office/drawing/2014/main" id="{35C024FD-0C96-7AC4-D429-BF57100FB548}"/>
                </a:ext>
              </a:extLst>
            </p:cNvPr>
            <p:cNvSpPr/>
            <p:nvPr/>
          </p:nvSpPr>
          <p:spPr>
            <a:xfrm>
              <a:off x="5414972" y="3278284"/>
              <a:ext cx="3924000" cy="924070"/>
            </a:xfrm>
            <a:prstGeom prst="flowChartDecision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クイックソートの再帰の深さが深すぎる？</a:t>
              </a:r>
              <a:r>
                <a:rPr kumimoji="1" lang="en-US" altLang="ja-JP" dirty="0">
                  <a:solidFill>
                    <a:schemeClr val="tx1"/>
                  </a:solidFill>
                </a:rPr>
                <a:t>*</a:t>
              </a:r>
              <a:r>
                <a:rPr kumimoji="1" lang="en-US" altLang="ja-JP" baseline="30000" dirty="0">
                  <a:solidFill>
                    <a:schemeClr val="tx1"/>
                  </a:solidFill>
                </a:rPr>
                <a:t>1</a:t>
              </a:r>
              <a:endParaRPr kumimoji="1" lang="ja-JP" altLang="en-US" baseline="30000" dirty="0">
                <a:solidFill>
                  <a:schemeClr val="tx1"/>
                </a:solidFill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F97B5E82-1FEA-CCC8-C3DE-658C5E76DEE2}"/>
                </a:ext>
              </a:extLst>
            </p:cNvPr>
            <p:cNvGrpSpPr/>
            <p:nvPr/>
          </p:nvGrpSpPr>
          <p:grpSpPr>
            <a:xfrm>
              <a:off x="5274668" y="4199374"/>
              <a:ext cx="4288584" cy="638606"/>
              <a:chOff x="4778559" y="3108120"/>
              <a:chExt cx="4288584" cy="638606"/>
            </a:xfrm>
          </p:grpSpPr>
          <p:cxnSp>
            <p:nvCxnSpPr>
              <p:cNvPr id="38" name="直線コネクタ 17">
                <a:extLst>
                  <a:ext uri="{FF2B5EF4-FFF2-40B4-BE49-F238E27FC236}">
                    <a16:creationId xmlns:a16="http://schemas.microsoft.com/office/drawing/2014/main" id="{50A07C5E-17B7-205B-DEB8-37B23C4110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22851" y="3111273"/>
                <a:ext cx="2144292" cy="304712"/>
              </a:xfrm>
              <a:prstGeom prst="bentConnector2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線コネクタ 38">
                <a:extLst>
                  <a:ext uri="{FF2B5EF4-FFF2-40B4-BE49-F238E27FC236}">
                    <a16:creationId xmlns:a16="http://schemas.microsoft.com/office/drawing/2014/main" id="{E1C8C1EA-BBD1-7E07-CA4E-78AD747933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8559" y="3415985"/>
                <a:ext cx="0" cy="3307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線コネクタ 39">
                <a:extLst>
                  <a:ext uri="{FF2B5EF4-FFF2-40B4-BE49-F238E27FC236}">
                    <a16:creationId xmlns:a16="http://schemas.microsoft.com/office/drawing/2014/main" id="{56E569C6-9F4E-3FB2-C3A1-B0DE03CC28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49001" y="3415985"/>
                <a:ext cx="0" cy="3307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線コネクタ 17">
                <a:extLst>
                  <a:ext uri="{FF2B5EF4-FFF2-40B4-BE49-F238E27FC236}">
                    <a16:creationId xmlns:a16="http://schemas.microsoft.com/office/drawing/2014/main" id="{F7A35FD5-83FA-A2B5-2BA1-FE8078C37C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78559" y="3108120"/>
                <a:ext cx="2144292" cy="304712"/>
              </a:xfrm>
              <a:prstGeom prst="bentConnector2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99AEABB6-9020-A344-B974-5B391C6E6E1E}"/>
                </a:ext>
              </a:extLst>
            </p:cNvPr>
            <p:cNvSpPr txBox="1"/>
            <p:nvPr/>
          </p:nvSpPr>
          <p:spPr>
            <a:xfrm>
              <a:off x="5038753" y="4345331"/>
              <a:ext cx="50811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Yes</a:t>
              </a:r>
              <a:endParaRPr kumimoji="1" lang="ja-JP" altLang="en-US" sz="1400" dirty="0"/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557AD2DE-0EA7-3A87-AEC6-F5145848AAB9}"/>
                </a:ext>
              </a:extLst>
            </p:cNvPr>
            <p:cNvSpPr txBox="1"/>
            <p:nvPr/>
          </p:nvSpPr>
          <p:spPr>
            <a:xfrm>
              <a:off x="9318923" y="4345331"/>
              <a:ext cx="50811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No</a:t>
              </a:r>
              <a:endParaRPr kumimoji="1" lang="ja-JP" altLang="en-US" sz="1400" dirty="0"/>
            </a:p>
          </p:txBody>
        </p: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B7AE556B-3E65-47C2-2CFD-F6F227325C83}"/>
                </a:ext>
              </a:extLst>
            </p:cNvPr>
            <p:cNvSpPr txBox="1"/>
            <p:nvPr/>
          </p:nvSpPr>
          <p:spPr>
            <a:xfrm>
              <a:off x="4240933" y="4909405"/>
              <a:ext cx="21058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 b="1" dirty="0">
                  <a:latin typeface="+mj-ea"/>
                  <a:ea typeface="+mj-ea"/>
                </a:rPr>
                <a:t>ヒープソート</a:t>
              </a:r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542731AE-595F-E995-D08B-D1BB6DD3E4C9}"/>
                </a:ext>
              </a:extLst>
            </p:cNvPr>
            <p:cNvSpPr txBox="1"/>
            <p:nvPr/>
          </p:nvSpPr>
          <p:spPr>
            <a:xfrm>
              <a:off x="8271091" y="4909405"/>
              <a:ext cx="25480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 b="1" dirty="0">
                  <a:latin typeface="+mj-ea"/>
                  <a:ea typeface="+mj-ea"/>
                </a:rPr>
                <a:t>クイックソート</a:t>
              </a:r>
            </a:p>
          </p:txBody>
        </p:sp>
      </p:grp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70F22195-C1DD-D3B5-4A46-FD0A73D72764}"/>
              </a:ext>
            </a:extLst>
          </p:cNvPr>
          <p:cNvSpPr txBox="1"/>
          <p:nvPr/>
        </p:nvSpPr>
        <p:spPr>
          <a:xfrm>
            <a:off x="38404" y="6192792"/>
            <a:ext cx="448403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latin typeface="Noto Sans JP DemiLight" panose="020B0200000000000000" pitchFamily="50" charset="-128"/>
                <a:ea typeface="Noto Sans JP DemiLight" panose="020B0200000000000000" pitchFamily="50" charset="-128"/>
              </a:rPr>
              <a:t>*1 … 2 log N </a:t>
            </a:r>
            <a:r>
              <a:rPr kumimoji="1" lang="ja-JP" altLang="en-US" sz="1100" dirty="0">
                <a:latin typeface="Noto Sans JP DemiLight" panose="020B0200000000000000" pitchFamily="50" charset="-128"/>
                <a:ea typeface="Noto Sans JP DemiLight" panose="020B0200000000000000" pitchFamily="50" charset="-128"/>
              </a:rPr>
              <a:t>を超える場合</a:t>
            </a:r>
            <a:endParaRPr kumimoji="1" lang="en-US" altLang="ja-JP" sz="1100" dirty="0">
              <a:latin typeface="Noto Sans JP DemiLight" panose="020B0200000000000000" pitchFamily="50" charset="-128"/>
              <a:ea typeface="Noto Sans JP DemiLight" panose="020B0200000000000000" pitchFamily="50" charset="-128"/>
            </a:endParaRPr>
          </a:p>
          <a:p>
            <a:r>
              <a:rPr kumimoji="1" lang="en-US" altLang="ja-JP" sz="1100" dirty="0">
                <a:latin typeface="Noto Sans JP DemiLight" panose="020B0200000000000000" pitchFamily="50" charset="-128"/>
                <a:ea typeface="Noto Sans JP DemiLight" panose="020B0200000000000000" pitchFamily="50" charset="-128"/>
              </a:rPr>
              <a:t>*2 … </a:t>
            </a:r>
            <a:r>
              <a:rPr kumimoji="1" lang="ja-JP" altLang="en-US" sz="1100" dirty="0">
                <a:latin typeface="Noto Sans JP DemiLight" panose="020B0200000000000000" pitchFamily="50" charset="-128"/>
                <a:ea typeface="Noto Sans JP DemiLight" panose="020B0200000000000000" pitchFamily="50" charset="-128"/>
              </a:rPr>
              <a:t>キャッシュ効率、定数項の違いによって</a:t>
            </a:r>
            <a:br>
              <a:rPr kumimoji="1" lang="en-US" altLang="ja-JP" sz="1100" dirty="0">
                <a:latin typeface="Noto Sans JP DemiLight" panose="020B0200000000000000" pitchFamily="50" charset="-128"/>
                <a:ea typeface="Noto Sans JP DemiLight" panose="020B0200000000000000" pitchFamily="50" charset="-128"/>
              </a:rPr>
            </a:br>
            <a:r>
              <a:rPr kumimoji="1" lang="ja-JP" altLang="en-US" sz="1100" dirty="0">
                <a:latin typeface="Noto Sans JP DemiLight" panose="020B0200000000000000" pitchFamily="50" charset="-128"/>
                <a:ea typeface="Noto Sans JP DemiLight" panose="020B0200000000000000" pitchFamily="50" charset="-128"/>
              </a:rPr>
              <a:t>　　  同じ平均計算量でもヒープソートの方が少し遅いとされている</a:t>
            </a:r>
            <a:endParaRPr kumimoji="1" lang="en-US" altLang="ja-JP" sz="1100" dirty="0">
              <a:latin typeface="Noto Sans JP DemiLight" panose="020B0200000000000000" pitchFamily="50" charset="-128"/>
              <a:ea typeface="Noto Sans JP DemiLight" panose="020B02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05AFD22-EC06-6A39-FD8B-2535CAF40D60}"/>
              </a:ext>
            </a:extLst>
          </p:cNvPr>
          <p:cNvSpPr txBox="1"/>
          <p:nvPr/>
        </p:nvSpPr>
        <p:spPr>
          <a:xfrm>
            <a:off x="1579002" y="3558841"/>
            <a:ext cx="29434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/>
              <a:t>小規模なデータに対しては</a:t>
            </a:r>
            <a:br>
              <a:rPr kumimoji="1" lang="en-US" altLang="ja-JP" dirty="0"/>
            </a:br>
            <a:r>
              <a:rPr kumimoji="1" lang="ja-JP" altLang="en-US" dirty="0"/>
              <a:t>非常に高速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716F38CF-3302-3BD9-194C-41256925EB5F}"/>
                  </a:ext>
                </a:extLst>
              </p:cNvPr>
              <p:cNvSpPr txBox="1"/>
              <p:nvPr/>
            </p:nvSpPr>
            <p:spPr>
              <a:xfrm>
                <a:off x="3166377" y="5155126"/>
                <a:ext cx="412164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ja-JP" altLang="en-US" dirty="0"/>
                  <a:t>常に安定した速度 </a:t>
                </a:r>
                <a:r>
                  <a:rPr kumimoji="1" lang="en-US" altLang="ja-JP" dirty="0"/>
                  <a:t>(</a:t>
                </a:r>
                <a14:m>
                  <m:oMath xmlns:m="http://schemas.openxmlformats.org/officeDocument/2006/math"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kumimoji="1" lang="en-US" altLang="ja-JP" dirty="0">
                  <a:latin typeface="+mn-ea"/>
                </a:endParaRPr>
              </a:p>
              <a:p>
                <a:pPr algn="ctr"/>
                <a:r>
                  <a:rPr kumimoji="1" lang="ja-JP" altLang="en-US" dirty="0"/>
                  <a:t>クイックソートに比べると少し遅い</a:t>
                </a:r>
                <a:r>
                  <a:rPr kumimoji="1" lang="en-US" altLang="ja-JP" baseline="30000" dirty="0"/>
                  <a:t>*2</a:t>
                </a:r>
                <a:endParaRPr kumimoji="1" lang="ja-JP" altLang="en-US" baseline="300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716F38CF-3302-3BD9-194C-41256925E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377" y="5155126"/>
                <a:ext cx="4121642" cy="646331"/>
              </a:xfrm>
              <a:prstGeom prst="rect">
                <a:avLst/>
              </a:prstGeom>
              <a:blipFill>
                <a:blip r:embed="rId2"/>
                <a:stretch>
                  <a:fillRect t="-5660" b="-141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BF021980-1AF9-4EAD-5947-BB71330F6E96}"/>
                  </a:ext>
                </a:extLst>
              </p:cNvPr>
              <p:cNvSpPr txBox="1"/>
              <p:nvPr/>
            </p:nvSpPr>
            <p:spPr>
              <a:xfrm>
                <a:off x="8068934" y="5126618"/>
                <a:ext cx="288790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ja-JP" altLang="en-US" dirty="0"/>
                  <a:t>平均は高速</a:t>
                </a:r>
                <a:r>
                  <a:rPr kumimoji="1" lang="en-US" altLang="ja-JP" dirty="0"/>
                  <a:t> (</a:t>
                </a:r>
                <a14:m>
                  <m:oMath xmlns:m="http://schemas.openxmlformats.org/officeDocument/2006/math"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kumimoji="1" lang="en-US" altLang="ja-JP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kumimoji="1" lang="en-US" altLang="ja-JP" i="1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kumimoji="1" lang="en-US" altLang="ja-JP" dirty="0"/>
              </a:p>
              <a:p>
                <a:pPr algn="ctr"/>
                <a:r>
                  <a:rPr kumimoji="1" lang="ja-JP" altLang="en-US" dirty="0"/>
                  <a:t>最悪の場合が遅い </a:t>
                </a:r>
                <a:r>
                  <a:rPr kumimoji="1" lang="en-US" altLang="ja-JP" dirty="0"/>
                  <a:t>(</a:t>
                </a:r>
                <a14:m>
                  <m:oMath xmlns:m="http://schemas.openxmlformats.org/officeDocument/2006/math"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1" lang="en-US" altLang="ja-JP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ja-JP" dirty="0"/>
                  <a:t>)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BF021980-1AF9-4EAD-5947-BB71330F6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8934" y="5126618"/>
                <a:ext cx="2887905" cy="646331"/>
              </a:xfrm>
              <a:prstGeom prst="rect">
                <a:avLst/>
              </a:prstGeom>
              <a:blipFill>
                <a:blip r:embed="rId3"/>
                <a:stretch>
                  <a:fillRect l="-1691" t="-5660" r="-3171" b="-141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33D7EEC2-7D83-9DFF-C462-5FA1DC36770A}"/>
              </a:ext>
            </a:extLst>
          </p:cNvPr>
          <p:cNvCxnSpPr>
            <a:cxnSpLocks/>
          </p:cNvCxnSpPr>
          <p:nvPr/>
        </p:nvCxnSpPr>
        <p:spPr>
          <a:xfrm>
            <a:off x="63118" y="6137190"/>
            <a:ext cx="134197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21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8AD0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0DADD3-C3D8-403C-AD75-F0FB50ABC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34" y="418934"/>
            <a:ext cx="3407905" cy="622753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クイックソート</a:t>
            </a:r>
            <a:endParaRPr kumimoji="1" lang="ja-JP" altLang="en-US" dirty="0">
              <a:latin typeface="+mn-lt"/>
            </a:endParaRP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7009D5E0-94AC-8E2A-A831-874002789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004945"/>
              </p:ext>
            </p:extLst>
          </p:nvPr>
        </p:nvGraphicFramePr>
        <p:xfrm>
          <a:off x="2284422" y="1639595"/>
          <a:ext cx="706257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  <a:gridCol w="784730">
                  <a:extLst>
                    <a:ext uri="{9D8B030D-6E8A-4147-A177-3AD203B41FA5}">
                      <a16:colId xmlns:a16="http://schemas.microsoft.com/office/drawing/2014/main" val="866981222"/>
                    </a:ext>
                  </a:extLst>
                </a:gridCol>
                <a:gridCol w="784730">
                  <a:extLst>
                    <a:ext uri="{9D8B030D-6E8A-4147-A177-3AD203B41FA5}">
                      <a16:colId xmlns:a16="http://schemas.microsoft.com/office/drawing/2014/main" val="319786548"/>
                    </a:ext>
                  </a:extLst>
                </a:gridCol>
                <a:gridCol w="784730">
                  <a:extLst>
                    <a:ext uri="{9D8B030D-6E8A-4147-A177-3AD203B41FA5}">
                      <a16:colId xmlns:a16="http://schemas.microsoft.com/office/drawing/2014/main" val="3367137664"/>
                    </a:ext>
                  </a:extLst>
                </a:gridCol>
                <a:gridCol w="784730">
                  <a:extLst>
                    <a:ext uri="{9D8B030D-6E8A-4147-A177-3AD203B41FA5}">
                      <a16:colId xmlns:a16="http://schemas.microsoft.com/office/drawing/2014/main" val="3316479959"/>
                    </a:ext>
                  </a:extLst>
                </a:gridCol>
                <a:gridCol w="784730">
                  <a:extLst>
                    <a:ext uri="{9D8B030D-6E8A-4147-A177-3AD203B41FA5}">
                      <a16:colId xmlns:a16="http://schemas.microsoft.com/office/drawing/2014/main" val="2255420430"/>
                    </a:ext>
                  </a:extLst>
                </a:gridCol>
                <a:gridCol w="784730">
                  <a:extLst>
                    <a:ext uri="{9D8B030D-6E8A-4147-A177-3AD203B41FA5}">
                      <a16:colId xmlns:a16="http://schemas.microsoft.com/office/drawing/2014/main" val="1030469577"/>
                    </a:ext>
                  </a:extLst>
                </a:gridCol>
                <a:gridCol w="784730">
                  <a:extLst>
                    <a:ext uri="{9D8B030D-6E8A-4147-A177-3AD203B41FA5}">
                      <a16:colId xmlns:a16="http://schemas.microsoft.com/office/drawing/2014/main" val="1838162765"/>
                    </a:ext>
                  </a:extLst>
                </a:gridCol>
                <a:gridCol w="784730">
                  <a:extLst>
                    <a:ext uri="{9D8B030D-6E8A-4147-A177-3AD203B41FA5}">
                      <a16:colId xmlns:a16="http://schemas.microsoft.com/office/drawing/2014/main" val="1313973167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7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3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6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2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4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9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5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8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3E96BB3E-8EEC-B42F-3F37-7C9D0DD52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015776"/>
              </p:ext>
            </p:extLst>
          </p:nvPr>
        </p:nvGraphicFramePr>
        <p:xfrm>
          <a:off x="2028435" y="2669506"/>
          <a:ext cx="235419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  <a:gridCol w="784730">
                  <a:extLst>
                    <a:ext uri="{9D8B030D-6E8A-4147-A177-3AD203B41FA5}">
                      <a16:colId xmlns:a16="http://schemas.microsoft.com/office/drawing/2014/main" val="866981222"/>
                    </a:ext>
                  </a:extLst>
                </a:gridCol>
                <a:gridCol w="784730">
                  <a:extLst>
                    <a:ext uri="{9D8B030D-6E8A-4147-A177-3AD203B41FA5}">
                      <a16:colId xmlns:a16="http://schemas.microsoft.com/office/drawing/2014/main" val="319786548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3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2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E7504049-6758-2E4C-BF00-39E6FBA7B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293756"/>
              </p:ext>
            </p:extLst>
          </p:nvPr>
        </p:nvGraphicFramePr>
        <p:xfrm>
          <a:off x="4656306" y="2669506"/>
          <a:ext cx="78473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4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3E134690-C0F0-2181-3B7B-BC906C448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495479"/>
              </p:ext>
            </p:extLst>
          </p:nvPr>
        </p:nvGraphicFramePr>
        <p:xfrm>
          <a:off x="5714717" y="2669505"/>
          <a:ext cx="392365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  <a:gridCol w="784730">
                  <a:extLst>
                    <a:ext uri="{9D8B030D-6E8A-4147-A177-3AD203B41FA5}">
                      <a16:colId xmlns:a16="http://schemas.microsoft.com/office/drawing/2014/main" val="866981222"/>
                    </a:ext>
                  </a:extLst>
                </a:gridCol>
                <a:gridCol w="784730">
                  <a:extLst>
                    <a:ext uri="{9D8B030D-6E8A-4147-A177-3AD203B41FA5}">
                      <a16:colId xmlns:a16="http://schemas.microsoft.com/office/drawing/2014/main" val="319786548"/>
                    </a:ext>
                  </a:extLst>
                </a:gridCol>
                <a:gridCol w="784730">
                  <a:extLst>
                    <a:ext uri="{9D8B030D-6E8A-4147-A177-3AD203B41FA5}">
                      <a16:colId xmlns:a16="http://schemas.microsoft.com/office/drawing/2014/main" val="3367137664"/>
                    </a:ext>
                  </a:extLst>
                </a:gridCol>
                <a:gridCol w="784730">
                  <a:extLst>
                    <a:ext uri="{9D8B030D-6E8A-4147-A177-3AD203B41FA5}">
                      <a16:colId xmlns:a16="http://schemas.microsoft.com/office/drawing/2014/main" val="3316479959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7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6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9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5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8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9D4B8482-E38E-F49E-EBB8-BA9A3CBEC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118456"/>
              </p:ext>
            </p:extLst>
          </p:nvPr>
        </p:nvGraphicFramePr>
        <p:xfrm>
          <a:off x="1892057" y="3686786"/>
          <a:ext cx="78473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1E2E0901-923D-00ED-C518-2A0302052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322919"/>
              </p:ext>
            </p:extLst>
          </p:nvPr>
        </p:nvGraphicFramePr>
        <p:xfrm>
          <a:off x="2822475" y="3682577"/>
          <a:ext cx="78473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2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865AF0B3-706D-19BB-6E59-68F085663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400025"/>
              </p:ext>
            </p:extLst>
          </p:nvPr>
        </p:nvGraphicFramePr>
        <p:xfrm>
          <a:off x="3752892" y="3682576"/>
          <a:ext cx="78473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3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FC60628C-30BD-F17F-B295-99A02661F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197590"/>
              </p:ext>
            </p:extLst>
          </p:nvPr>
        </p:nvGraphicFramePr>
        <p:xfrm>
          <a:off x="4681331" y="3682576"/>
          <a:ext cx="78473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4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FA548F42-E0A9-46B4-530F-C1622E25D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367041"/>
              </p:ext>
            </p:extLst>
          </p:nvPr>
        </p:nvGraphicFramePr>
        <p:xfrm>
          <a:off x="8892399" y="3686786"/>
          <a:ext cx="78473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9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13" name="表 12">
            <a:extLst>
              <a:ext uri="{FF2B5EF4-FFF2-40B4-BE49-F238E27FC236}">
                <a16:creationId xmlns:a16="http://schemas.microsoft.com/office/drawing/2014/main" id="{53156EB4-3201-A615-B03B-6B3F05DE6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794695"/>
              </p:ext>
            </p:extLst>
          </p:nvPr>
        </p:nvGraphicFramePr>
        <p:xfrm>
          <a:off x="5609770" y="3682576"/>
          <a:ext cx="313892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  <a:gridCol w="784730">
                  <a:extLst>
                    <a:ext uri="{9D8B030D-6E8A-4147-A177-3AD203B41FA5}">
                      <a16:colId xmlns:a16="http://schemas.microsoft.com/office/drawing/2014/main" val="866981222"/>
                    </a:ext>
                  </a:extLst>
                </a:gridCol>
                <a:gridCol w="784730">
                  <a:extLst>
                    <a:ext uri="{9D8B030D-6E8A-4147-A177-3AD203B41FA5}">
                      <a16:colId xmlns:a16="http://schemas.microsoft.com/office/drawing/2014/main" val="319786548"/>
                    </a:ext>
                  </a:extLst>
                </a:gridCol>
                <a:gridCol w="784730">
                  <a:extLst>
                    <a:ext uri="{9D8B030D-6E8A-4147-A177-3AD203B41FA5}">
                      <a16:colId xmlns:a16="http://schemas.microsoft.com/office/drawing/2014/main" val="3367137664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7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6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5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8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14" name="表 13">
            <a:extLst>
              <a:ext uri="{FF2B5EF4-FFF2-40B4-BE49-F238E27FC236}">
                <a16:creationId xmlns:a16="http://schemas.microsoft.com/office/drawing/2014/main" id="{B8CD5341-DCAD-8BF3-6FD1-9D94AD6C0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945195"/>
              </p:ext>
            </p:extLst>
          </p:nvPr>
        </p:nvGraphicFramePr>
        <p:xfrm>
          <a:off x="1748348" y="4708275"/>
          <a:ext cx="78473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15" name="表 14">
            <a:extLst>
              <a:ext uri="{FF2B5EF4-FFF2-40B4-BE49-F238E27FC236}">
                <a16:creationId xmlns:a16="http://schemas.microsoft.com/office/drawing/2014/main" id="{4EF09D3B-FC6C-60E4-868E-9F7C6A2872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316604"/>
              </p:ext>
            </p:extLst>
          </p:nvPr>
        </p:nvGraphicFramePr>
        <p:xfrm>
          <a:off x="2678766" y="4704066"/>
          <a:ext cx="78473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2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33C8BE53-6B1A-F09D-F446-70505BC9F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865508"/>
              </p:ext>
            </p:extLst>
          </p:nvPr>
        </p:nvGraphicFramePr>
        <p:xfrm>
          <a:off x="3609183" y="4704065"/>
          <a:ext cx="78473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3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17" name="表 16">
            <a:extLst>
              <a:ext uri="{FF2B5EF4-FFF2-40B4-BE49-F238E27FC236}">
                <a16:creationId xmlns:a16="http://schemas.microsoft.com/office/drawing/2014/main" id="{10390A13-7E5C-D3AB-4CD0-0B3EBB316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139657"/>
              </p:ext>
            </p:extLst>
          </p:nvPr>
        </p:nvGraphicFramePr>
        <p:xfrm>
          <a:off x="4537622" y="4704065"/>
          <a:ext cx="78473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4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78657F86-4528-0A84-A432-3FC89460D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865843"/>
              </p:ext>
            </p:extLst>
          </p:nvPr>
        </p:nvGraphicFramePr>
        <p:xfrm>
          <a:off x="9036108" y="4703581"/>
          <a:ext cx="78473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9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19" name="表 18">
            <a:extLst>
              <a:ext uri="{FF2B5EF4-FFF2-40B4-BE49-F238E27FC236}">
                <a16:creationId xmlns:a16="http://schemas.microsoft.com/office/drawing/2014/main" id="{05E95251-0FC5-AE96-3E50-9239C4355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096035"/>
              </p:ext>
            </p:extLst>
          </p:nvPr>
        </p:nvGraphicFramePr>
        <p:xfrm>
          <a:off x="5466061" y="4712486"/>
          <a:ext cx="78473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5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20" name="表 19">
            <a:extLst>
              <a:ext uri="{FF2B5EF4-FFF2-40B4-BE49-F238E27FC236}">
                <a16:creationId xmlns:a16="http://schemas.microsoft.com/office/drawing/2014/main" id="{86DA92EC-FA38-2199-518F-20EF960EF9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79201"/>
              </p:ext>
            </p:extLst>
          </p:nvPr>
        </p:nvGraphicFramePr>
        <p:xfrm>
          <a:off x="6394500" y="4703581"/>
          <a:ext cx="78473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6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21" name="表 20">
            <a:extLst>
              <a:ext uri="{FF2B5EF4-FFF2-40B4-BE49-F238E27FC236}">
                <a16:creationId xmlns:a16="http://schemas.microsoft.com/office/drawing/2014/main" id="{32B3D8A7-4AAD-6C32-EB41-774528982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456944"/>
              </p:ext>
            </p:extLst>
          </p:nvPr>
        </p:nvGraphicFramePr>
        <p:xfrm>
          <a:off x="7322939" y="4712486"/>
          <a:ext cx="156946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  <a:gridCol w="784730">
                  <a:extLst>
                    <a:ext uri="{9D8B030D-6E8A-4147-A177-3AD203B41FA5}">
                      <a16:colId xmlns:a16="http://schemas.microsoft.com/office/drawing/2014/main" val="866981222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7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8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22" name="表 21">
            <a:extLst>
              <a:ext uri="{FF2B5EF4-FFF2-40B4-BE49-F238E27FC236}">
                <a16:creationId xmlns:a16="http://schemas.microsoft.com/office/drawing/2014/main" id="{4C578C14-F838-86B8-EAA1-3394876907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658624"/>
              </p:ext>
            </p:extLst>
          </p:nvPr>
        </p:nvGraphicFramePr>
        <p:xfrm>
          <a:off x="1604639" y="5725070"/>
          <a:ext cx="78473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23" name="表 22">
            <a:extLst>
              <a:ext uri="{FF2B5EF4-FFF2-40B4-BE49-F238E27FC236}">
                <a16:creationId xmlns:a16="http://schemas.microsoft.com/office/drawing/2014/main" id="{03C6B065-B615-AF6D-B5F5-511118C43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286993"/>
              </p:ext>
            </p:extLst>
          </p:nvPr>
        </p:nvGraphicFramePr>
        <p:xfrm>
          <a:off x="2535057" y="5720861"/>
          <a:ext cx="78473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2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24" name="表 23">
            <a:extLst>
              <a:ext uri="{FF2B5EF4-FFF2-40B4-BE49-F238E27FC236}">
                <a16:creationId xmlns:a16="http://schemas.microsoft.com/office/drawing/2014/main" id="{5854CE6A-C28B-E329-B7EC-B2A867ADB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853147"/>
              </p:ext>
            </p:extLst>
          </p:nvPr>
        </p:nvGraphicFramePr>
        <p:xfrm>
          <a:off x="3465474" y="5720860"/>
          <a:ext cx="78473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3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25" name="表 24">
            <a:extLst>
              <a:ext uri="{FF2B5EF4-FFF2-40B4-BE49-F238E27FC236}">
                <a16:creationId xmlns:a16="http://schemas.microsoft.com/office/drawing/2014/main" id="{182427B0-4EAB-D0BC-AC55-8DED330DEB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95837"/>
              </p:ext>
            </p:extLst>
          </p:nvPr>
        </p:nvGraphicFramePr>
        <p:xfrm>
          <a:off x="4393913" y="5720860"/>
          <a:ext cx="78473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4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26" name="表 25">
            <a:extLst>
              <a:ext uri="{FF2B5EF4-FFF2-40B4-BE49-F238E27FC236}">
                <a16:creationId xmlns:a16="http://schemas.microsoft.com/office/drawing/2014/main" id="{BB880BE6-8CE8-7D4D-A053-4E713AD98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09461"/>
              </p:ext>
            </p:extLst>
          </p:nvPr>
        </p:nvGraphicFramePr>
        <p:xfrm>
          <a:off x="9026016" y="5729281"/>
          <a:ext cx="78473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9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27" name="表 26">
            <a:extLst>
              <a:ext uri="{FF2B5EF4-FFF2-40B4-BE49-F238E27FC236}">
                <a16:creationId xmlns:a16="http://schemas.microsoft.com/office/drawing/2014/main" id="{D6CC7B19-01E5-4822-06E9-CB03E2012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729082"/>
              </p:ext>
            </p:extLst>
          </p:nvPr>
        </p:nvGraphicFramePr>
        <p:xfrm>
          <a:off x="5322352" y="5729281"/>
          <a:ext cx="78473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5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28" name="表 27">
            <a:extLst>
              <a:ext uri="{FF2B5EF4-FFF2-40B4-BE49-F238E27FC236}">
                <a16:creationId xmlns:a16="http://schemas.microsoft.com/office/drawing/2014/main" id="{5992776A-3E31-7A66-5E01-4A05AB249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039564"/>
              </p:ext>
            </p:extLst>
          </p:nvPr>
        </p:nvGraphicFramePr>
        <p:xfrm>
          <a:off x="6250791" y="5720376"/>
          <a:ext cx="78473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6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29" name="表 28">
            <a:extLst>
              <a:ext uri="{FF2B5EF4-FFF2-40B4-BE49-F238E27FC236}">
                <a16:creationId xmlns:a16="http://schemas.microsoft.com/office/drawing/2014/main" id="{A525512D-0738-264E-C4D1-F7C979460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326179"/>
              </p:ext>
            </p:extLst>
          </p:nvPr>
        </p:nvGraphicFramePr>
        <p:xfrm>
          <a:off x="7175866" y="5720376"/>
          <a:ext cx="78473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7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aphicFrame>
        <p:nvGraphicFramePr>
          <p:cNvPr id="30" name="表 29">
            <a:extLst>
              <a:ext uri="{FF2B5EF4-FFF2-40B4-BE49-F238E27FC236}">
                <a16:creationId xmlns:a16="http://schemas.microsoft.com/office/drawing/2014/main" id="{E436A633-5399-DB7D-4CD4-69E196E22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681814"/>
              </p:ext>
            </p:extLst>
          </p:nvPr>
        </p:nvGraphicFramePr>
        <p:xfrm>
          <a:off x="8100941" y="5720376"/>
          <a:ext cx="784730" cy="59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30">
                  <a:extLst>
                    <a:ext uri="{9D8B030D-6E8A-4147-A177-3AD203B41FA5}">
                      <a16:colId xmlns:a16="http://schemas.microsoft.com/office/drawing/2014/main" val="1119650420"/>
                    </a:ext>
                  </a:extLst>
                </a:gridCol>
              </a:tblGrid>
              <a:tr h="59015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+mj-lt"/>
                        </a:rPr>
                        <a:t>8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08273"/>
                  </a:ext>
                </a:extLst>
              </a:tr>
            </a:tbl>
          </a:graphicData>
        </a:graphic>
      </p:graphicFrame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9585F834-971C-F8C0-3BE2-44B7795E32F6}"/>
              </a:ext>
            </a:extLst>
          </p:cNvPr>
          <p:cNvGrpSpPr/>
          <p:nvPr/>
        </p:nvGrpSpPr>
        <p:grpSpPr>
          <a:xfrm>
            <a:off x="5441036" y="1174145"/>
            <a:ext cx="741498" cy="417112"/>
            <a:chOff x="5844896" y="1123791"/>
            <a:chExt cx="741498" cy="417112"/>
          </a:xfrm>
        </p:grpSpPr>
        <p:sp>
          <p:nvSpPr>
            <p:cNvPr id="35" name="フリーフォーム: 図形 34">
              <a:extLst>
                <a:ext uri="{FF2B5EF4-FFF2-40B4-BE49-F238E27FC236}">
                  <a16:creationId xmlns:a16="http://schemas.microsoft.com/office/drawing/2014/main" id="{B80B65F7-2E9E-97F6-528E-CCAB8BEB7D2F}"/>
                </a:ext>
              </a:extLst>
            </p:cNvPr>
            <p:cNvSpPr/>
            <p:nvPr/>
          </p:nvSpPr>
          <p:spPr>
            <a:xfrm flipV="1">
              <a:off x="5869921" y="1125690"/>
              <a:ext cx="697834" cy="415213"/>
            </a:xfrm>
            <a:custGeom>
              <a:avLst/>
              <a:gdLst>
                <a:gd name="csX0" fmla="*/ 0 w 697834"/>
                <a:gd name="csY0" fmla="*/ 415213 h 415213"/>
                <a:gd name="csX1" fmla="*/ 697834 w 697834"/>
                <a:gd name="csY1" fmla="*/ 415213 h 415213"/>
                <a:gd name="csX2" fmla="*/ 697834 w 697834"/>
                <a:gd name="csY2" fmla="*/ 114694 h 415213"/>
                <a:gd name="csX3" fmla="*/ 409373 w 697834"/>
                <a:gd name="csY3" fmla="*/ 114694 h 415213"/>
                <a:gd name="csX4" fmla="*/ 354653 w 697834"/>
                <a:gd name="csY4" fmla="*/ 0 h 415213"/>
                <a:gd name="csX5" fmla="*/ 299933 w 697834"/>
                <a:gd name="csY5" fmla="*/ 114694 h 415213"/>
                <a:gd name="csX6" fmla="*/ 0 w 697834"/>
                <a:gd name="csY6" fmla="*/ 114694 h 4152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97834" h="415213">
                  <a:moveTo>
                    <a:pt x="0" y="415213"/>
                  </a:moveTo>
                  <a:lnTo>
                    <a:pt x="697834" y="415213"/>
                  </a:lnTo>
                  <a:lnTo>
                    <a:pt x="697834" y="114694"/>
                  </a:lnTo>
                  <a:lnTo>
                    <a:pt x="409373" y="114694"/>
                  </a:lnTo>
                  <a:lnTo>
                    <a:pt x="354653" y="0"/>
                  </a:lnTo>
                  <a:lnTo>
                    <a:pt x="299933" y="114694"/>
                  </a:lnTo>
                  <a:lnTo>
                    <a:pt x="0" y="114694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53243A17-8CBB-32A9-FF0D-F2F2692B08CE}"/>
                </a:ext>
              </a:extLst>
            </p:cNvPr>
            <p:cNvSpPr txBox="1"/>
            <p:nvPr/>
          </p:nvSpPr>
          <p:spPr>
            <a:xfrm>
              <a:off x="5844896" y="1123791"/>
              <a:ext cx="7414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400" dirty="0"/>
                <a:t>基準値</a:t>
              </a:r>
            </a:p>
          </p:txBody>
        </p:sp>
      </p:grp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5A9A9DA7-2C50-AA3D-05DA-CAD6D28BE49E}"/>
              </a:ext>
            </a:extLst>
          </p:cNvPr>
          <p:cNvCxnSpPr/>
          <p:nvPr/>
        </p:nvCxnSpPr>
        <p:spPr>
          <a:xfrm flipH="1">
            <a:off x="2468880" y="2229746"/>
            <a:ext cx="922020" cy="439759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879B73C9-84B8-C378-D65B-7D5E966F756C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3205530" y="2237366"/>
            <a:ext cx="1826722" cy="43214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17AC46F5-956B-59B2-A252-FCE65BFC4FC2}"/>
              </a:ext>
            </a:extLst>
          </p:cNvPr>
          <p:cNvCxnSpPr>
            <a:cxnSpLocks/>
          </p:cNvCxnSpPr>
          <p:nvPr/>
        </p:nvCxnSpPr>
        <p:spPr>
          <a:xfrm flipH="1">
            <a:off x="3977640" y="2238651"/>
            <a:ext cx="2629049" cy="408834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694EB0C5-2F87-8EF8-3D57-B3C48C25E741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2284422" y="3258446"/>
            <a:ext cx="1731318" cy="42834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268B6AF9-2390-D21F-158A-CA26D2CDA8F3}"/>
              </a:ext>
            </a:extLst>
          </p:cNvPr>
          <p:cNvCxnSpPr>
            <a:cxnSpLocks/>
          </p:cNvCxnSpPr>
          <p:nvPr/>
        </p:nvCxnSpPr>
        <p:spPr>
          <a:xfrm flipH="1">
            <a:off x="6019800" y="3256682"/>
            <a:ext cx="77738" cy="433828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B5AC49C8-10AE-A057-4A4C-65C5985A38B2}"/>
              </a:ext>
            </a:extLst>
          </p:cNvPr>
          <p:cNvCxnSpPr>
            <a:cxnSpLocks/>
          </p:cNvCxnSpPr>
          <p:nvPr/>
        </p:nvCxnSpPr>
        <p:spPr>
          <a:xfrm flipH="1">
            <a:off x="6835140" y="3264302"/>
            <a:ext cx="77738" cy="433828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5AFF5A41-4E51-5E64-DF77-923EB02B7C24}"/>
              </a:ext>
            </a:extLst>
          </p:cNvPr>
          <p:cNvCxnSpPr>
            <a:cxnSpLocks/>
          </p:cNvCxnSpPr>
          <p:nvPr/>
        </p:nvCxnSpPr>
        <p:spPr>
          <a:xfrm flipH="1">
            <a:off x="7559883" y="3241442"/>
            <a:ext cx="915095" cy="453763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6716643C-7EBB-7FE5-E0EC-C45D1CB3763E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5858426" y="4262522"/>
            <a:ext cx="1709772" cy="449964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16C173E0-CBDD-302A-F005-CC903F74F621}"/>
              </a:ext>
            </a:extLst>
          </p:cNvPr>
          <p:cNvCxnSpPr>
            <a:cxnSpLocks/>
          </p:cNvCxnSpPr>
          <p:nvPr/>
        </p:nvCxnSpPr>
        <p:spPr>
          <a:xfrm>
            <a:off x="10265678" y="1633622"/>
            <a:ext cx="0" cy="467690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5D7D7BFF-09AF-17B5-B61B-2C0647FEE82C}"/>
              </a:ext>
            </a:extLst>
          </p:cNvPr>
          <p:cNvSpPr txBox="1"/>
          <p:nvPr/>
        </p:nvSpPr>
        <p:spPr>
          <a:xfrm>
            <a:off x="10385865" y="360274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再帰の深さ</a:t>
            </a: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C591CA07-F30C-5ED5-D599-57318C0DA13E}"/>
              </a:ext>
            </a:extLst>
          </p:cNvPr>
          <p:cNvSpPr txBox="1"/>
          <p:nvPr/>
        </p:nvSpPr>
        <p:spPr>
          <a:xfrm>
            <a:off x="3850950" y="407146"/>
            <a:ext cx="7789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+mn-ea"/>
              </a:rPr>
              <a:t>基準値（ピボット）より小さいグループと大きいグループに</a:t>
            </a:r>
            <a:endParaRPr kumimoji="1" lang="en-US" altLang="ja-JP" dirty="0">
              <a:latin typeface="+mn-ea"/>
            </a:endParaRPr>
          </a:p>
          <a:p>
            <a:r>
              <a:rPr kumimoji="1" lang="ja-JP" altLang="en-US" dirty="0">
                <a:latin typeface="+mn-ea"/>
              </a:rPr>
              <a:t>データを分割・再帰的に並べ替える、高速で代表的なソートアルゴリズム</a:t>
            </a:r>
            <a:endParaRPr kumimoji="1" lang="ja-JP" altLang="en-US" dirty="0"/>
          </a:p>
        </p:txBody>
      </p: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B2DB6B09-330F-2200-FE8C-E9E03275AEA8}"/>
              </a:ext>
            </a:extLst>
          </p:cNvPr>
          <p:cNvCxnSpPr>
            <a:cxnSpLocks/>
          </p:cNvCxnSpPr>
          <p:nvPr/>
        </p:nvCxnSpPr>
        <p:spPr>
          <a:xfrm>
            <a:off x="4312920" y="2237366"/>
            <a:ext cx="2612428" cy="409280"/>
          </a:xfrm>
          <a:prstGeom prst="straightConnector1">
            <a:avLst/>
          </a:prstGeom>
          <a:ln w="381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127A2811-E40A-07E8-6909-A488BC9CDF0F}"/>
              </a:ext>
            </a:extLst>
          </p:cNvPr>
          <p:cNvCxnSpPr>
            <a:cxnSpLocks/>
          </p:cNvCxnSpPr>
          <p:nvPr/>
        </p:nvCxnSpPr>
        <p:spPr>
          <a:xfrm>
            <a:off x="2691375" y="2229746"/>
            <a:ext cx="3465172" cy="423628"/>
          </a:xfrm>
          <a:prstGeom prst="straightConnector1">
            <a:avLst/>
          </a:prstGeom>
          <a:ln w="381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A0BD5359-1D50-DA0F-A194-835D4B96923E}"/>
              </a:ext>
            </a:extLst>
          </p:cNvPr>
          <p:cNvCxnSpPr>
            <a:cxnSpLocks/>
          </p:cNvCxnSpPr>
          <p:nvPr/>
        </p:nvCxnSpPr>
        <p:spPr>
          <a:xfrm>
            <a:off x="9022961" y="2246585"/>
            <a:ext cx="226204" cy="426088"/>
          </a:xfrm>
          <a:prstGeom prst="straightConnector1">
            <a:avLst/>
          </a:prstGeom>
          <a:ln w="381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E70E1D05-BC05-4424-A80A-3077E022021C}"/>
              </a:ext>
            </a:extLst>
          </p:cNvPr>
          <p:cNvCxnSpPr>
            <a:cxnSpLocks/>
          </p:cNvCxnSpPr>
          <p:nvPr/>
        </p:nvCxnSpPr>
        <p:spPr>
          <a:xfrm>
            <a:off x="8216870" y="2230586"/>
            <a:ext cx="276436" cy="446539"/>
          </a:xfrm>
          <a:prstGeom prst="straightConnector1">
            <a:avLst/>
          </a:prstGeom>
          <a:ln w="381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D4B59FA7-CFE7-E6A7-296C-2372B02113C0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7443225" y="2225294"/>
            <a:ext cx="233317" cy="444211"/>
          </a:xfrm>
          <a:prstGeom prst="straightConnector1">
            <a:avLst/>
          </a:prstGeom>
          <a:ln w="381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AECC4459-6ADF-47F0-6016-36FD6CFFC8B3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2409458" y="3271922"/>
            <a:ext cx="1735799" cy="410654"/>
          </a:xfrm>
          <a:prstGeom prst="straightConnector1">
            <a:avLst/>
          </a:prstGeom>
          <a:ln w="381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133B510F-E33A-D885-757B-8CC0CD38DF48}"/>
              </a:ext>
            </a:extLst>
          </p:cNvPr>
          <p:cNvCxnSpPr>
            <a:cxnSpLocks/>
          </p:cNvCxnSpPr>
          <p:nvPr/>
        </p:nvCxnSpPr>
        <p:spPr>
          <a:xfrm flipH="1">
            <a:off x="8355088" y="3271922"/>
            <a:ext cx="912370" cy="405473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6CAA1466-BEAB-065D-6798-F6B772550F8C}"/>
              </a:ext>
            </a:extLst>
          </p:cNvPr>
          <p:cNvCxnSpPr>
            <a:cxnSpLocks/>
          </p:cNvCxnSpPr>
          <p:nvPr/>
        </p:nvCxnSpPr>
        <p:spPr>
          <a:xfrm>
            <a:off x="5983238" y="4277762"/>
            <a:ext cx="1835034" cy="413239"/>
          </a:xfrm>
          <a:prstGeom prst="straightConnector1">
            <a:avLst/>
          </a:prstGeom>
          <a:ln w="381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C37534EF-C63F-9FCB-2C98-D715263F3EDE}"/>
              </a:ext>
            </a:extLst>
          </p:cNvPr>
          <p:cNvCxnSpPr>
            <a:cxnSpLocks/>
          </p:cNvCxnSpPr>
          <p:nvPr/>
        </p:nvCxnSpPr>
        <p:spPr>
          <a:xfrm>
            <a:off x="8368298" y="4270142"/>
            <a:ext cx="182229" cy="463829"/>
          </a:xfrm>
          <a:prstGeom prst="straightConnector1">
            <a:avLst/>
          </a:prstGeom>
          <a:ln w="381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01E027B2-0367-5A3C-333A-985E569236A0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8493306" y="5298842"/>
            <a:ext cx="4532" cy="421534"/>
          </a:xfrm>
          <a:prstGeom prst="straightConnector1">
            <a:avLst/>
          </a:prstGeom>
          <a:ln w="381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69CCE90B-9758-A5BC-BFFC-D79D0FDEC322}"/>
              </a:ext>
            </a:extLst>
          </p:cNvPr>
          <p:cNvSpPr txBox="1"/>
          <p:nvPr/>
        </p:nvSpPr>
        <p:spPr>
          <a:xfrm>
            <a:off x="38404" y="6555599"/>
            <a:ext cx="27840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>
                <a:latin typeface="Noto Sans JP DemiLight" panose="020B0200000000000000" pitchFamily="50" charset="-128"/>
                <a:ea typeface="Noto Sans JP DemiLight" panose="020B0200000000000000" pitchFamily="50" charset="-128"/>
              </a:rPr>
              <a:t>今回は基準値を中央のデータとしている</a:t>
            </a:r>
            <a:endParaRPr kumimoji="1" lang="en-US" altLang="ja-JP" sz="1100" dirty="0">
              <a:latin typeface="Noto Sans JP DemiLight" panose="020B0200000000000000" pitchFamily="50" charset="-128"/>
              <a:ea typeface="Noto Sans JP DemiLight" panose="020B0200000000000000" pitchFamily="50" charset="-128"/>
            </a:endParaRPr>
          </a:p>
        </p:txBody>
      </p: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5AC2F5E4-81C5-DA79-0904-FE91A29F7004}"/>
              </a:ext>
            </a:extLst>
          </p:cNvPr>
          <p:cNvCxnSpPr>
            <a:cxnSpLocks/>
          </p:cNvCxnSpPr>
          <p:nvPr/>
        </p:nvCxnSpPr>
        <p:spPr>
          <a:xfrm>
            <a:off x="63118" y="6499998"/>
            <a:ext cx="134197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四角形: 角を丸くする 88">
            <a:extLst>
              <a:ext uri="{FF2B5EF4-FFF2-40B4-BE49-F238E27FC236}">
                <a16:creationId xmlns:a16="http://schemas.microsoft.com/office/drawing/2014/main" id="{12F90E4B-5A64-C16C-247D-5027EEC4930D}"/>
              </a:ext>
            </a:extLst>
          </p:cNvPr>
          <p:cNvSpPr/>
          <p:nvPr/>
        </p:nvSpPr>
        <p:spPr>
          <a:xfrm>
            <a:off x="551738" y="116869"/>
            <a:ext cx="671320" cy="3088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3174640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5FC60-CB36-7B60-7A48-6E5C3D40D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D423D2-DB4B-BF81-D0A6-57DB9B058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C#</a:t>
            </a:r>
            <a:r>
              <a:rPr kumimoji="1" lang="ja-JP" altLang="en-US" dirty="0"/>
              <a:t>のソートは組み合わせて最適化している</a:t>
            </a:r>
          </a:p>
        </p:txBody>
      </p: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258C9B2F-DF8C-ED56-38F3-A29A9232A255}"/>
              </a:ext>
            </a:extLst>
          </p:cNvPr>
          <p:cNvGrpSpPr/>
          <p:nvPr/>
        </p:nvGrpSpPr>
        <p:grpSpPr>
          <a:xfrm>
            <a:off x="1405093" y="1081823"/>
            <a:ext cx="9381813" cy="4036328"/>
            <a:chOff x="1437315" y="1334742"/>
            <a:chExt cx="9381813" cy="4036328"/>
          </a:xfrm>
        </p:grpSpPr>
        <p:sp>
          <p:nvSpPr>
            <p:cNvPr id="3" name="四角形: 角を丸くする 2">
              <a:extLst>
                <a:ext uri="{FF2B5EF4-FFF2-40B4-BE49-F238E27FC236}">
                  <a16:creationId xmlns:a16="http://schemas.microsoft.com/office/drawing/2014/main" id="{03BD8E8B-5F91-DA83-A536-5EDD04FABD76}"/>
                </a:ext>
              </a:extLst>
            </p:cNvPr>
            <p:cNvSpPr/>
            <p:nvPr/>
          </p:nvSpPr>
          <p:spPr>
            <a:xfrm>
              <a:off x="1437315" y="1334742"/>
              <a:ext cx="2734962" cy="428368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今処理している配列</a:t>
              </a:r>
            </a:p>
          </p:txBody>
        </p:sp>
        <p:sp>
          <p:nvSpPr>
            <p:cNvPr id="30" name="フローチャート: 判断 29">
              <a:extLst>
                <a:ext uri="{FF2B5EF4-FFF2-40B4-BE49-F238E27FC236}">
                  <a16:creationId xmlns:a16="http://schemas.microsoft.com/office/drawing/2014/main" id="{BBCC7443-2B46-21A9-CCAB-1A1F0F0C7DF9}"/>
                </a:ext>
              </a:extLst>
            </p:cNvPr>
            <p:cNvSpPr/>
            <p:nvPr/>
          </p:nvSpPr>
          <p:spPr>
            <a:xfrm>
              <a:off x="3765482" y="1867718"/>
              <a:ext cx="2988000" cy="792000"/>
            </a:xfrm>
            <a:prstGeom prst="flowChartDecision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サイズ ≦ </a:t>
              </a:r>
              <a:r>
                <a:rPr kumimoji="1" lang="en-US" altLang="ja-JP" dirty="0">
                  <a:solidFill>
                    <a:schemeClr val="tx1"/>
                  </a:solidFill>
                </a:rPr>
                <a:t>16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32" name="グループ化 31">
              <a:extLst>
                <a:ext uri="{FF2B5EF4-FFF2-40B4-BE49-F238E27FC236}">
                  <a16:creationId xmlns:a16="http://schemas.microsoft.com/office/drawing/2014/main" id="{CE30FC4E-2C39-05B9-5477-CD0840687D71}"/>
                </a:ext>
              </a:extLst>
            </p:cNvPr>
            <p:cNvGrpSpPr/>
            <p:nvPr/>
          </p:nvGrpSpPr>
          <p:grpSpPr>
            <a:xfrm>
              <a:off x="3115128" y="2642949"/>
              <a:ext cx="4288584" cy="638606"/>
              <a:chOff x="4778559" y="3108120"/>
              <a:chExt cx="4288584" cy="638606"/>
            </a:xfrm>
          </p:grpSpPr>
          <p:cxnSp>
            <p:nvCxnSpPr>
              <p:cNvPr id="24" name="直線コネクタ 17">
                <a:extLst>
                  <a:ext uri="{FF2B5EF4-FFF2-40B4-BE49-F238E27FC236}">
                    <a16:creationId xmlns:a16="http://schemas.microsoft.com/office/drawing/2014/main" id="{C99550AF-43D7-7351-F710-3ACB7795B0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22851" y="3111273"/>
                <a:ext cx="2144292" cy="304712"/>
              </a:xfrm>
              <a:prstGeom prst="bentConnector2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線コネクタ 25">
                <a:extLst>
                  <a:ext uri="{FF2B5EF4-FFF2-40B4-BE49-F238E27FC236}">
                    <a16:creationId xmlns:a16="http://schemas.microsoft.com/office/drawing/2014/main" id="{112E6D82-4ACA-F36A-C678-EBFEDBB3CB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8559" y="3415985"/>
                <a:ext cx="0" cy="3307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CBF6809E-6A92-60C7-E388-C0502D0EF6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49001" y="3415985"/>
                <a:ext cx="0" cy="3307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コネクタ 17">
                <a:extLst>
                  <a:ext uri="{FF2B5EF4-FFF2-40B4-BE49-F238E27FC236}">
                    <a16:creationId xmlns:a16="http://schemas.microsoft.com/office/drawing/2014/main" id="{A28F5F74-468F-993A-CCB8-2DE653B225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78559" y="3108120"/>
                <a:ext cx="2144292" cy="304712"/>
              </a:xfrm>
              <a:prstGeom prst="bentConnector2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4B614D76-0A43-CD18-423A-F05F2F98AC0C}"/>
                </a:ext>
              </a:extLst>
            </p:cNvPr>
            <p:cNvSpPr txBox="1"/>
            <p:nvPr/>
          </p:nvSpPr>
          <p:spPr>
            <a:xfrm>
              <a:off x="2879213" y="2788906"/>
              <a:ext cx="50811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Yes</a:t>
              </a:r>
              <a:endParaRPr kumimoji="1" lang="ja-JP" altLang="en-US" sz="1400" dirty="0"/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507E7BF0-65B5-6D17-44ED-F92A57920D6A}"/>
                </a:ext>
              </a:extLst>
            </p:cNvPr>
            <p:cNvSpPr txBox="1"/>
            <p:nvPr/>
          </p:nvSpPr>
          <p:spPr>
            <a:xfrm>
              <a:off x="7159383" y="2788906"/>
              <a:ext cx="50811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No</a:t>
              </a:r>
              <a:endParaRPr kumimoji="1" lang="ja-JP" altLang="en-US" sz="1400" dirty="0"/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0E2A8F28-DA6E-0B98-94BA-1EA9014175B2}"/>
                </a:ext>
              </a:extLst>
            </p:cNvPr>
            <p:cNvSpPr txBox="1"/>
            <p:nvPr/>
          </p:nvSpPr>
          <p:spPr>
            <a:xfrm>
              <a:off x="2255305" y="3307802"/>
              <a:ext cx="17196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 b="1" dirty="0">
                  <a:latin typeface="+mj-ea"/>
                  <a:ea typeface="+mj-ea"/>
                </a:rPr>
                <a:t>挿入ソート</a:t>
              </a:r>
            </a:p>
          </p:txBody>
        </p:sp>
        <p:sp>
          <p:nvSpPr>
            <p:cNvPr id="36" name="フローチャート: 判断 35">
              <a:extLst>
                <a:ext uri="{FF2B5EF4-FFF2-40B4-BE49-F238E27FC236}">
                  <a16:creationId xmlns:a16="http://schemas.microsoft.com/office/drawing/2014/main" id="{5961D8D2-6BF0-247F-A53A-0F14EB5C3812}"/>
                </a:ext>
              </a:extLst>
            </p:cNvPr>
            <p:cNvSpPr/>
            <p:nvPr/>
          </p:nvSpPr>
          <p:spPr>
            <a:xfrm>
              <a:off x="5414972" y="3278284"/>
              <a:ext cx="3924000" cy="924070"/>
            </a:xfrm>
            <a:prstGeom prst="flowChartDecision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クイックソートの再帰の深さが深すぎる？</a:t>
              </a:r>
              <a:r>
                <a:rPr kumimoji="1" lang="en-US" altLang="ja-JP" dirty="0">
                  <a:solidFill>
                    <a:schemeClr val="tx1"/>
                  </a:solidFill>
                </a:rPr>
                <a:t>*</a:t>
              </a:r>
              <a:r>
                <a:rPr kumimoji="1" lang="en-US" altLang="ja-JP" baseline="30000" dirty="0">
                  <a:solidFill>
                    <a:schemeClr val="tx1"/>
                  </a:solidFill>
                </a:rPr>
                <a:t>1</a:t>
              </a:r>
              <a:endParaRPr kumimoji="1" lang="ja-JP" altLang="en-US" baseline="30000" dirty="0">
                <a:solidFill>
                  <a:schemeClr val="tx1"/>
                </a:solidFill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4BE35BB7-E5EF-73D7-9969-C8D3E9606493}"/>
                </a:ext>
              </a:extLst>
            </p:cNvPr>
            <p:cNvGrpSpPr/>
            <p:nvPr/>
          </p:nvGrpSpPr>
          <p:grpSpPr>
            <a:xfrm>
              <a:off x="5274668" y="4199374"/>
              <a:ext cx="4288584" cy="638606"/>
              <a:chOff x="4778559" y="3108120"/>
              <a:chExt cx="4288584" cy="638606"/>
            </a:xfrm>
          </p:grpSpPr>
          <p:cxnSp>
            <p:nvCxnSpPr>
              <p:cNvPr id="38" name="直線コネクタ 17">
                <a:extLst>
                  <a:ext uri="{FF2B5EF4-FFF2-40B4-BE49-F238E27FC236}">
                    <a16:creationId xmlns:a16="http://schemas.microsoft.com/office/drawing/2014/main" id="{B24B501C-C39E-947E-32C2-EB6128CEC7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22851" y="3111273"/>
                <a:ext cx="2144292" cy="304712"/>
              </a:xfrm>
              <a:prstGeom prst="bentConnector2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線コネクタ 38">
                <a:extLst>
                  <a:ext uri="{FF2B5EF4-FFF2-40B4-BE49-F238E27FC236}">
                    <a16:creationId xmlns:a16="http://schemas.microsoft.com/office/drawing/2014/main" id="{576D156E-4B13-B934-B841-2A297822B8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8559" y="3415985"/>
                <a:ext cx="0" cy="3307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線コネクタ 39">
                <a:extLst>
                  <a:ext uri="{FF2B5EF4-FFF2-40B4-BE49-F238E27FC236}">
                    <a16:creationId xmlns:a16="http://schemas.microsoft.com/office/drawing/2014/main" id="{F1A8E44E-80CF-47AB-1783-C1FAB1F5F6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49001" y="3415985"/>
                <a:ext cx="0" cy="3307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線コネクタ 17">
                <a:extLst>
                  <a:ext uri="{FF2B5EF4-FFF2-40B4-BE49-F238E27FC236}">
                    <a16:creationId xmlns:a16="http://schemas.microsoft.com/office/drawing/2014/main" id="{081123C3-66D3-B13B-5959-B2EA472310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78559" y="3108120"/>
                <a:ext cx="2144292" cy="304712"/>
              </a:xfrm>
              <a:prstGeom prst="bentConnector2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5097BD9E-E1A5-1B52-C69C-C1F342EE7E37}"/>
                </a:ext>
              </a:extLst>
            </p:cNvPr>
            <p:cNvSpPr txBox="1"/>
            <p:nvPr/>
          </p:nvSpPr>
          <p:spPr>
            <a:xfrm>
              <a:off x="5038753" y="4345331"/>
              <a:ext cx="50811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Yes</a:t>
              </a:r>
              <a:endParaRPr kumimoji="1" lang="ja-JP" altLang="en-US" sz="1400" dirty="0"/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3B136584-49B3-5129-7691-B730C7D66174}"/>
                </a:ext>
              </a:extLst>
            </p:cNvPr>
            <p:cNvSpPr txBox="1"/>
            <p:nvPr/>
          </p:nvSpPr>
          <p:spPr>
            <a:xfrm>
              <a:off x="9318923" y="4345331"/>
              <a:ext cx="50811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No</a:t>
              </a:r>
              <a:endParaRPr kumimoji="1" lang="ja-JP" altLang="en-US" sz="1400" dirty="0"/>
            </a:p>
          </p:txBody>
        </p: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2CAD3754-814F-E691-F912-BDB065FC1CB1}"/>
                </a:ext>
              </a:extLst>
            </p:cNvPr>
            <p:cNvSpPr txBox="1"/>
            <p:nvPr/>
          </p:nvSpPr>
          <p:spPr>
            <a:xfrm>
              <a:off x="4240933" y="4909405"/>
              <a:ext cx="21058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 b="1" dirty="0">
                  <a:latin typeface="+mj-ea"/>
                  <a:ea typeface="+mj-ea"/>
                </a:rPr>
                <a:t>ヒープソート</a:t>
              </a:r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5A60AE1F-D327-EE11-EFA2-2E6D0EA54C41}"/>
                </a:ext>
              </a:extLst>
            </p:cNvPr>
            <p:cNvSpPr txBox="1"/>
            <p:nvPr/>
          </p:nvSpPr>
          <p:spPr>
            <a:xfrm>
              <a:off x="8271091" y="4909405"/>
              <a:ext cx="25480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 b="1" dirty="0">
                  <a:latin typeface="+mj-ea"/>
                  <a:ea typeface="+mj-ea"/>
                </a:rPr>
                <a:t>クイックソート</a:t>
              </a:r>
            </a:p>
          </p:txBody>
        </p:sp>
      </p:grp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CC9E74CB-729B-3957-57F1-3DACA98E20D3}"/>
              </a:ext>
            </a:extLst>
          </p:cNvPr>
          <p:cNvSpPr txBox="1"/>
          <p:nvPr/>
        </p:nvSpPr>
        <p:spPr>
          <a:xfrm>
            <a:off x="38404" y="6192792"/>
            <a:ext cx="448403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latin typeface="Noto Sans JP DemiLight" panose="020B0200000000000000" pitchFamily="50" charset="-128"/>
                <a:ea typeface="Noto Sans JP DemiLight" panose="020B0200000000000000" pitchFamily="50" charset="-128"/>
              </a:rPr>
              <a:t>*1 … 2 log N </a:t>
            </a:r>
            <a:r>
              <a:rPr kumimoji="1" lang="ja-JP" altLang="en-US" sz="1100" dirty="0">
                <a:latin typeface="Noto Sans JP DemiLight" panose="020B0200000000000000" pitchFamily="50" charset="-128"/>
                <a:ea typeface="Noto Sans JP DemiLight" panose="020B0200000000000000" pitchFamily="50" charset="-128"/>
              </a:rPr>
              <a:t>を超える場合</a:t>
            </a:r>
            <a:endParaRPr kumimoji="1" lang="en-US" altLang="ja-JP" sz="1100" dirty="0">
              <a:latin typeface="Noto Sans JP DemiLight" panose="020B0200000000000000" pitchFamily="50" charset="-128"/>
              <a:ea typeface="Noto Sans JP DemiLight" panose="020B0200000000000000" pitchFamily="50" charset="-128"/>
            </a:endParaRPr>
          </a:p>
          <a:p>
            <a:r>
              <a:rPr kumimoji="1" lang="en-US" altLang="ja-JP" sz="1100" dirty="0">
                <a:latin typeface="Noto Sans JP DemiLight" panose="020B0200000000000000" pitchFamily="50" charset="-128"/>
                <a:ea typeface="Noto Sans JP DemiLight" panose="020B0200000000000000" pitchFamily="50" charset="-128"/>
              </a:rPr>
              <a:t>*2 … </a:t>
            </a:r>
            <a:r>
              <a:rPr kumimoji="1" lang="ja-JP" altLang="en-US" sz="1100" dirty="0">
                <a:latin typeface="Noto Sans JP DemiLight" panose="020B0200000000000000" pitchFamily="50" charset="-128"/>
                <a:ea typeface="Noto Sans JP DemiLight" panose="020B0200000000000000" pitchFamily="50" charset="-128"/>
              </a:rPr>
              <a:t>キャッシュ効率、定数項の違いによって</a:t>
            </a:r>
            <a:br>
              <a:rPr kumimoji="1" lang="en-US" altLang="ja-JP" sz="1100" dirty="0">
                <a:latin typeface="Noto Sans JP DemiLight" panose="020B0200000000000000" pitchFamily="50" charset="-128"/>
                <a:ea typeface="Noto Sans JP DemiLight" panose="020B0200000000000000" pitchFamily="50" charset="-128"/>
              </a:rPr>
            </a:br>
            <a:r>
              <a:rPr kumimoji="1" lang="ja-JP" altLang="en-US" sz="1100" dirty="0">
                <a:latin typeface="Noto Sans JP DemiLight" panose="020B0200000000000000" pitchFamily="50" charset="-128"/>
                <a:ea typeface="Noto Sans JP DemiLight" panose="020B0200000000000000" pitchFamily="50" charset="-128"/>
              </a:rPr>
              <a:t>　　  同じ平均計算量でもヒープソートの方が少し遅いとされている</a:t>
            </a:r>
            <a:endParaRPr kumimoji="1" lang="en-US" altLang="ja-JP" sz="1100" dirty="0">
              <a:latin typeface="Noto Sans JP DemiLight" panose="020B0200000000000000" pitchFamily="50" charset="-128"/>
              <a:ea typeface="Noto Sans JP DemiLight" panose="020B02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9E7E8C1-88D5-0264-C02F-890DB4C335D9}"/>
              </a:ext>
            </a:extLst>
          </p:cNvPr>
          <p:cNvSpPr txBox="1"/>
          <p:nvPr/>
        </p:nvSpPr>
        <p:spPr>
          <a:xfrm>
            <a:off x="1579002" y="3558841"/>
            <a:ext cx="29434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/>
              <a:t>小規模なデータに対しては</a:t>
            </a:r>
            <a:br>
              <a:rPr kumimoji="1" lang="en-US" altLang="ja-JP" dirty="0"/>
            </a:br>
            <a:r>
              <a:rPr kumimoji="1" lang="ja-JP" altLang="en-US" dirty="0"/>
              <a:t>非常に高速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DE6842B-50B0-F11E-19E2-9C42F3340788}"/>
                  </a:ext>
                </a:extLst>
              </p:cNvPr>
              <p:cNvSpPr txBox="1"/>
              <p:nvPr/>
            </p:nvSpPr>
            <p:spPr>
              <a:xfrm>
                <a:off x="3166377" y="5155126"/>
                <a:ext cx="412164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ja-JP" altLang="en-US" dirty="0"/>
                  <a:t>常に安定した速度 </a:t>
                </a:r>
                <a:r>
                  <a:rPr kumimoji="1" lang="en-US" altLang="ja-JP" dirty="0"/>
                  <a:t>(</a:t>
                </a:r>
                <a14:m>
                  <m:oMath xmlns:m="http://schemas.openxmlformats.org/officeDocument/2006/math"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kumimoji="1" lang="en-US" altLang="ja-JP" dirty="0">
                  <a:latin typeface="+mn-ea"/>
                </a:endParaRPr>
              </a:p>
              <a:p>
                <a:pPr algn="ctr"/>
                <a:r>
                  <a:rPr kumimoji="1" lang="ja-JP" altLang="en-US" dirty="0"/>
                  <a:t>クイックソートに比べると少し遅い</a:t>
                </a:r>
                <a:r>
                  <a:rPr kumimoji="1" lang="en-US" altLang="ja-JP" baseline="30000" dirty="0"/>
                  <a:t>*2</a:t>
                </a:r>
                <a:endParaRPr kumimoji="1" lang="ja-JP" altLang="en-US" baseline="300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DE6842B-50B0-F11E-19E2-9C42F3340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377" y="5155126"/>
                <a:ext cx="4121642" cy="646331"/>
              </a:xfrm>
              <a:prstGeom prst="rect">
                <a:avLst/>
              </a:prstGeom>
              <a:blipFill>
                <a:blip r:embed="rId2"/>
                <a:stretch>
                  <a:fillRect t="-5660" b="-141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0C1979A1-D303-C76E-3DD9-C2F1EB80E917}"/>
                  </a:ext>
                </a:extLst>
              </p:cNvPr>
              <p:cNvSpPr txBox="1"/>
              <p:nvPr/>
            </p:nvSpPr>
            <p:spPr>
              <a:xfrm>
                <a:off x="8068934" y="5118151"/>
                <a:ext cx="288790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ja-JP" altLang="en-US" dirty="0"/>
                  <a:t>平均は高速</a:t>
                </a:r>
                <a:r>
                  <a:rPr kumimoji="1" lang="en-US" altLang="ja-JP" dirty="0"/>
                  <a:t> (</a:t>
                </a:r>
                <a14:m>
                  <m:oMath xmlns:m="http://schemas.openxmlformats.org/officeDocument/2006/math"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kumimoji="1" lang="en-US" altLang="ja-JP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kumimoji="1" lang="en-US" altLang="ja-JP" i="1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kumimoji="1" lang="en-US" altLang="ja-JP" dirty="0"/>
              </a:p>
              <a:p>
                <a:pPr algn="ctr"/>
                <a:r>
                  <a:rPr kumimoji="1" lang="ja-JP" altLang="en-US" dirty="0"/>
                  <a:t>最悪の場合が遅い </a:t>
                </a:r>
                <a:r>
                  <a:rPr kumimoji="1" lang="en-US" altLang="ja-JP" dirty="0"/>
                  <a:t>(</a:t>
                </a:r>
                <a14:m>
                  <m:oMath xmlns:m="http://schemas.openxmlformats.org/officeDocument/2006/math"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1" lang="en-US" altLang="ja-JP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ja-JP" dirty="0"/>
                  <a:t>)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0C1979A1-D303-C76E-3DD9-C2F1EB80E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8934" y="5118151"/>
                <a:ext cx="2887905" cy="646331"/>
              </a:xfrm>
              <a:prstGeom prst="rect">
                <a:avLst/>
              </a:prstGeom>
              <a:blipFill>
                <a:blip r:embed="rId3"/>
                <a:stretch>
                  <a:fillRect l="-1691" t="-5660" r="-3171" b="-141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9EF6F35A-950D-5EB0-C031-98D84E8E936C}"/>
              </a:ext>
            </a:extLst>
          </p:cNvPr>
          <p:cNvCxnSpPr>
            <a:cxnSpLocks/>
          </p:cNvCxnSpPr>
          <p:nvPr/>
        </p:nvCxnSpPr>
        <p:spPr>
          <a:xfrm>
            <a:off x="63118" y="6137190"/>
            <a:ext cx="134197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933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F7D6AA9B-7637-EDCC-431D-C2182A0101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2466899"/>
              </p:ext>
            </p:extLst>
          </p:nvPr>
        </p:nvGraphicFramePr>
        <p:xfrm>
          <a:off x="671209" y="175097"/>
          <a:ext cx="11186808" cy="6585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70012034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ユーザー定義 1">
      <a:dk1>
        <a:srgbClr val="5D5F67"/>
      </a:dk1>
      <a:lt1>
        <a:sysClr val="window" lastClr="FFFFFF"/>
      </a:lt1>
      <a:dk2>
        <a:srgbClr val="0E2841"/>
      </a:dk2>
      <a:lt2>
        <a:srgbClr val="FCF1D2"/>
      </a:lt2>
      <a:accent1>
        <a:srgbClr val="E0EFFB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1">
      <a:majorFont>
        <a:latin typeface="Noto Sans JP Bold"/>
        <a:ea typeface="Noto Sans JP Bold"/>
        <a:cs typeface=""/>
      </a:majorFont>
      <a:minorFont>
        <a:latin typeface="Noto Sans JP Medium"/>
        <a:ea typeface="Noto Sans JP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テーマ1" id="{A03E3FC7-7251-4173-8EE0-7D3E0D19FA00}" vid="{43A8D093-429E-4E7C-BBC7-DA348BA1F48B}"/>
    </a:ext>
  </a:extLst>
</a:theme>
</file>

<file path=ppt/theme/themeOverride1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テーマ1</Template>
  <TotalTime>767</TotalTime>
  <Words>398</Words>
  <Application>Microsoft Office PowerPoint</Application>
  <PresentationFormat>ワイド画面</PresentationFormat>
  <Paragraphs>101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Noto Sans JP Bold</vt:lpstr>
      <vt:lpstr>Noto Sans JP DemiLight</vt:lpstr>
      <vt:lpstr>Noto Sans JP Medium</vt:lpstr>
      <vt:lpstr>Arial</vt:lpstr>
      <vt:lpstr>Cambria Math</vt:lpstr>
      <vt:lpstr>テーマ1</vt:lpstr>
      <vt:lpstr>➡ 内部では何ソートが使われているのか？</vt:lpstr>
      <vt:lpstr>C#のソートは1種類のアルゴリズムではない！</vt:lpstr>
      <vt:lpstr>クイックソート</vt:lpstr>
      <vt:lpstr>C#のソートは組み合わせて最適化している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Nakajima Niina</dc:creator>
  <cp:lastModifiedBy>Nakajima Niina</cp:lastModifiedBy>
  <cp:revision>3</cp:revision>
  <dcterms:created xsi:type="dcterms:W3CDTF">2026-04-18T06:45:02Z</dcterms:created>
  <dcterms:modified xsi:type="dcterms:W3CDTF">2026-04-18T23:43:49Z</dcterms:modified>
</cp:coreProperties>
</file>